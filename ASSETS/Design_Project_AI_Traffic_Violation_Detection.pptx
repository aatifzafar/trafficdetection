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8" r:id="rId1"/>
  </p:sldMasterIdLst>
  <p:notesMasterIdLst>
    <p:notesMasterId r:id="rId25"/>
  </p:notesMasterIdLst>
  <p:handoutMasterIdLst>
    <p:handoutMasterId r:id="rId26"/>
  </p:handoutMasterIdLst>
  <p:sldIdLst>
    <p:sldId id="507" r:id="rId2"/>
    <p:sldId id="1027" r:id="rId3"/>
    <p:sldId id="1012" r:id="rId4"/>
    <p:sldId id="1013" r:id="rId5"/>
    <p:sldId id="1046" r:id="rId6"/>
    <p:sldId id="1014" r:id="rId7"/>
    <p:sldId id="1015" r:id="rId8"/>
    <p:sldId id="1034" r:id="rId9"/>
    <p:sldId id="1036" r:id="rId10"/>
    <p:sldId id="1037" r:id="rId11"/>
    <p:sldId id="1011" r:id="rId12"/>
    <p:sldId id="1026" r:id="rId13"/>
    <p:sldId id="1033" r:id="rId14"/>
    <p:sldId id="1038" r:id="rId15"/>
    <p:sldId id="1039" r:id="rId16"/>
    <p:sldId id="1040" r:id="rId17"/>
    <p:sldId id="1044" r:id="rId18"/>
    <p:sldId id="1045" r:id="rId19"/>
    <p:sldId id="1041" r:id="rId20"/>
    <p:sldId id="1025" r:id="rId21"/>
    <p:sldId id="1042" r:id="rId22"/>
    <p:sldId id="1043" r:id="rId23"/>
    <p:sldId id="1035" r:id="rId2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Shekhar . R" initials="PS.R" lastIdx="1" clrIdx="0">
    <p:extLst>
      <p:ext uri="{19B8F6BF-5375-455C-9EA6-DF929625EA0E}">
        <p15:presenceInfo xmlns:p15="http://schemas.microsoft.com/office/powerpoint/2012/main" userId="S-1-5-21-1415727340-1540263038-2234542919-13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CA663-1309-4ECF-9CD4-C8F48ECFF935}" v="48" dt="2026-09-09T09:42:55.997"/>
    <p1510:client id="{575C8504-258C-4612-97B9-120B5DE7B0D2}" v="3" dt="2026-09-09T10:42:31.757"/>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Selvam" userId="d6d9795e-cb7f-4ca4-909c-a1909c828893" providerId="ADAL" clId="{77D21AA8-553F-4AB2-8C7F-3DF8ADADA90D}"/>
    <pc:docChg chg="undo custSel addSld delSld modSld">
      <pc:chgData name="M Selvam" userId="d6d9795e-cb7f-4ca4-909c-a1909c828893" providerId="ADAL" clId="{77D21AA8-553F-4AB2-8C7F-3DF8ADADA90D}" dt="2026-09-09T10:44:54.063" v="359" actId="47"/>
      <pc:docMkLst>
        <pc:docMk/>
      </pc:docMkLst>
      <pc:sldChg chg="addSp delSp modSp mod">
        <pc:chgData name="M Selvam" userId="d6d9795e-cb7f-4ca4-909c-a1909c828893" providerId="ADAL" clId="{77D21AA8-553F-4AB2-8C7F-3DF8ADADA90D}" dt="2026-09-09T09:43:21.943" v="173" actId="14100"/>
        <pc:sldMkLst>
          <pc:docMk/>
          <pc:sldMk cId="0" sldId="507"/>
        </pc:sldMkLst>
        <pc:spChg chg="mod">
          <ac:chgData name="M Selvam" userId="d6d9795e-cb7f-4ca4-909c-a1909c828893" providerId="ADAL" clId="{77D21AA8-553F-4AB2-8C7F-3DF8ADADA90D}" dt="2026-09-09T09:34:27.100" v="39" actId="20577"/>
          <ac:spMkLst>
            <pc:docMk/>
            <pc:sldMk cId="0" sldId="507"/>
            <ac:spMk id="6" creationId="{90112947-B9C2-2E92-2ED4-7AE86C45CC4F}"/>
          </ac:spMkLst>
        </pc:spChg>
        <pc:picChg chg="del">
          <ac:chgData name="M Selvam" userId="d6d9795e-cb7f-4ca4-909c-a1909c828893" providerId="ADAL" clId="{77D21AA8-553F-4AB2-8C7F-3DF8ADADA90D}" dt="2026-09-09T09:33:53.660" v="3" actId="478"/>
          <ac:picMkLst>
            <pc:docMk/>
            <pc:sldMk cId="0" sldId="507"/>
            <ac:picMk id="3" creationId="{D48BC6A5-F5D8-82C0-F28F-C70BA469D2CB}"/>
          </ac:picMkLst>
        </pc:picChg>
        <pc:picChg chg="add mod">
          <ac:chgData name="M Selvam" userId="d6d9795e-cb7f-4ca4-909c-a1909c828893" providerId="ADAL" clId="{77D21AA8-553F-4AB2-8C7F-3DF8ADADA90D}" dt="2026-09-09T09:43:21.943" v="173" actId="14100"/>
          <ac:picMkLst>
            <pc:docMk/>
            <pc:sldMk cId="0" sldId="507"/>
            <ac:picMk id="4" creationId="{9D471D20-F6B2-348C-6B60-AFE0319ECD25}"/>
          </ac:picMkLst>
        </pc:picChg>
      </pc:sldChg>
      <pc:sldChg chg="addSp delSp modSp mod">
        <pc:chgData name="M Selvam" userId="d6d9795e-cb7f-4ca4-909c-a1909c828893" providerId="ADAL" clId="{77D21AA8-553F-4AB2-8C7F-3DF8ADADA90D}" dt="2026-09-09T09:39:26.485" v="105" actId="1076"/>
        <pc:sldMkLst>
          <pc:docMk/>
          <pc:sldMk cId="2311492942" sldId="1011"/>
        </pc:sldMkLst>
        <pc:picChg chg="del">
          <ac:chgData name="M Selvam" userId="d6d9795e-cb7f-4ca4-909c-a1909c828893" providerId="ADAL" clId="{77D21AA8-553F-4AB2-8C7F-3DF8ADADA90D}" dt="2026-09-09T09:39:16.829" v="101" actId="478"/>
          <ac:picMkLst>
            <pc:docMk/>
            <pc:sldMk cId="2311492942" sldId="1011"/>
            <ac:picMk id="4" creationId="{A4B4A364-138F-E303-4886-AF5B2A6A67C2}"/>
          </ac:picMkLst>
        </pc:picChg>
        <pc:picChg chg="add mod">
          <ac:chgData name="M Selvam" userId="d6d9795e-cb7f-4ca4-909c-a1909c828893" providerId="ADAL" clId="{77D21AA8-553F-4AB2-8C7F-3DF8ADADA90D}" dt="2026-09-09T09:39:26.485" v="105" actId="1076"/>
          <ac:picMkLst>
            <pc:docMk/>
            <pc:sldMk cId="2311492942" sldId="1011"/>
            <ac:picMk id="5" creationId="{E69172F0-DC24-A9DB-0F68-54E3881FD548}"/>
          </ac:picMkLst>
        </pc:picChg>
      </pc:sldChg>
      <pc:sldChg chg="addSp delSp modSp mod">
        <pc:chgData name="M Selvam" userId="d6d9795e-cb7f-4ca4-909c-a1909c828893" providerId="ADAL" clId="{77D21AA8-553F-4AB2-8C7F-3DF8ADADA90D}" dt="2026-09-09T09:43:36.767" v="177" actId="14100"/>
        <pc:sldMkLst>
          <pc:docMk/>
          <pc:sldMk cId="3089745817" sldId="1012"/>
        </pc:sldMkLst>
        <pc:spChg chg="add del">
          <ac:chgData name="M Selvam" userId="d6d9795e-cb7f-4ca4-909c-a1909c828893" providerId="ADAL" clId="{77D21AA8-553F-4AB2-8C7F-3DF8ADADA90D}" dt="2026-09-09T09:35:25.635" v="51" actId="34307"/>
          <ac:spMkLst>
            <pc:docMk/>
            <pc:sldMk cId="3089745817" sldId="1012"/>
            <ac:spMk id="7" creationId="{3280A4A6-FE4E-5BD7-0D80-570328273E09}"/>
          </ac:spMkLst>
        </pc:spChg>
        <pc:picChg chg="add mod">
          <ac:chgData name="M Selvam" userId="d6d9795e-cb7f-4ca4-909c-a1909c828893" providerId="ADAL" clId="{77D21AA8-553F-4AB2-8C7F-3DF8ADADA90D}" dt="2026-09-09T09:43:36.767" v="177" actId="14100"/>
          <ac:picMkLst>
            <pc:docMk/>
            <pc:sldMk cId="3089745817" sldId="1012"/>
            <ac:picMk id="2" creationId="{D046E4DE-BCE0-C9B2-CDC2-1E28119D86A3}"/>
          </ac:picMkLst>
        </pc:picChg>
        <pc:picChg chg="del">
          <ac:chgData name="M Selvam" userId="d6d9795e-cb7f-4ca4-909c-a1909c828893" providerId="ADAL" clId="{77D21AA8-553F-4AB2-8C7F-3DF8ADADA90D}" dt="2026-09-09T09:35:05.819" v="47" actId="478"/>
          <ac:picMkLst>
            <pc:docMk/>
            <pc:sldMk cId="3089745817" sldId="1012"/>
            <ac:picMk id="4" creationId="{8F4E0918-9E46-2259-4003-1C1F5C38DCA1}"/>
          </ac:picMkLst>
        </pc:picChg>
        <pc:picChg chg="add del mod ord">
          <ac:chgData name="M Selvam" userId="d6d9795e-cb7f-4ca4-909c-a1909c828893" providerId="ADAL" clId="{77D21AA8-553F-4AB2-8C7F-3DF8ADADA90D}" dt="2026-09-09T09:35:25.635" v="51" actId="34307"/>
          <ac:picMkLst>
            <pc:docMk/>
            <pc:sldMk cId="3089745817" sldId="1012"/>
            <ac:picMk id="5" creationId="{E81362B5-B35C-A88A-ADEF-51E0186485C5}"/>
          </ac:picMkLst>
        </pc:picChg>
      </pc:sldChg>
      <pc:sldChg chg="addSp delSp modSp mod">
        <pc:chgData name="M Selvam" userId="d6d9795e-cb7f-4ca4-909c-a1909c828893" providerId="ADAL" clId="{77D21AA8-553F-4AB2-8C7F-3DF8ADADA90D}" dt="2026-09-09T09:43:41.958" v="179" actId="14100"/>
        <pc:sldMkLst>
          <pc:docMk/>
          <pc:sldMk cId="95257650" sldId="1013"/>
        </pc:sldMkLst>
        <pc:picChg chg="del">
          <ac:chgData name="M Selvam" userId="d6d9795e-cb7f-4ca4-909c-a1909c828893" providerId="ADAL" clId="{77D21AA8-553F-4AB2-8C7F-3DF8ADADA90D}" dt="2026-09-09T09:35:33.573" v="52" actId="478"/>
          <ac:picMkLst>
            <pc:docMk/>
            <pc:sldMk cId="95257650" sldId="1013"/>
            <ac:picMk id="4" creationId="{2DC88E58-E75E-48AB-59FF-CADAC759042E}"/>
          </ac:picMkLst>
        </pc:picChg>
        <pc:picChg chg="add mod">
          <ac:chgData name="M Selvam" userId="d6d9795e-cb7f-4ca4-909c-a1909c828893" providerId="ADAL" clId="{77D21AA8-553F-4AB2-8C7F-3DF8ADADA90D}" dt="2026-09-09T09:43:41.958" v="179" actId="14100"/>
          <ac:picMkLst>
            <pc:docMk/>
            <pc:sldMk cId="95257650" sldId="1013"/>
            <ac:picMk id="5" creationId="{271B53F3-540A-8282-CDE9-91C7F1D75BFF}"/>
          </ac:picMkLst>
        </pc:picChg>
      </pc:sldChg>
      <pc:sldChg chg="addSp delSp modSp mod">
        <pc:chgData name="M Selvam" userId="d6d9795e-cb7f-4ca4-909c-a1909c828893" providerId="ADAL" clId="{77D21AA8-553F-4AB2-8C7F-3DF8ADADA90D}" dt="2026-09-09T09:43:46.133" v="180" actId="14100"/>
        <pc:sldMkLst>
          <pc:docMk/>
          <pc:sldMk cId="2694801863" sldId="1014"/>
        </pc:sldMkLst>
        <pc:spChg chg="mod">
          <ac:chgData name="M Selvam" userId="d6d9795e-cb7f-4ca4-909c-a1909c828893" providerId="ADAL" clId="{77D21AA8-553F-4AB2-8C7F-3DF8ADADA90D}" dt="2026-09-09T09:36:44.870" v="68" actId="14100"/>
          <ac:spMkLst>
            <pc:docMk/>
            <pc:sldMk cId="2694801863" sldId="1014"/>
            <ac:spMk id="3" creationId="{39A6E23D-A5D8-BE38-914C-4697198F055E}"/>
          </ac:spMkLst>
        </pc:spChg>
        <pc:picChg chg="del mod">
          <ac:chgData name="M Selvam" userId="d6d9795e-cb7f-4ca4-909c-a1909c828893" providerId="ADAL" clId="{77D21AA8-553F-4AB2-8C7F-3DF8ADADA90D}" dt="2026-09-09T09:36:34.406" v="65" actId="478"/>
          <ac:picMkLst>
            <pc:docMk/>
            <pc:sldMk cId="2694801863" sldId="1014"/>
            <ac:picMk id="4" creationId="{3424A7D1-392B-981E-7690-910B416284B1}"/>
          </ac:picMkLst>
        </pc:picChg>
        <pc:picChg chg="add mod">
          <ac:chgData name="M Selvam" userId="d6d9795e-cb7f-4ca4-909c-a1909c828893" providerId="ADAL" clId="{77D21AA8-553F-4AB2-8C7F-3DF8ADADA90D}" dt="2026-09-09T09:43:46.133" v="180" actId="14100"/>
          <ac:picMkLst>
            <pc:docMk/>
            <pc:sldMk cId="2694801863" sldId="1014"/>
            <ac:picMk id="5" creationId="{47D2E993-E474-0C27-DF8A-10B6A433EC16}"/>
          </ac:picMkLst>
        </pc:picChg>
      </pc:sldChg>
      <pc:sldChg chg="addSp delSp modSp mod">
        <pc:chgData name="M Selvam" userId="d6d9795e-cb7f-4ca4-909c-a1909c828893" providerId="ADAL" clId="{77D21AA8-553F-4AB2-8C7F-3DF8ADADA90D}" dt="2026-09-09T09:43:54.806" v="182" actId="14100"/>
        <pc:sldMkLst>
          <pc:docMk/>
          <pc:sldMk cId="695185364" sldId="1015"/>
        </pc:sldMkLst>
        <pc:spChg chg="mod">
          <ac:chgData name="M Selvam" userId="d6d9795e-cb7f-4ca4-909c-a1909c828893" providerId="ADAL" clId="{77D21AA8-553F-4AB2-8C7F-3DF8ADADA90D}" dt="2026-09-09T09:37:18.323" v="74" actId="14100"/>
          <ac:spMkLst>
            <pc:docMk/>
            <pc:sldMk cId="695185364" sldId="1015"/>
            <ac:spMk id="3" creationId="{BBD3710E-1FD6-A145-E602-76470D00842A}"/>
          </ac:spMkLst>
        </pc:spChg>
        <pc:picChg chg="del">
          <ac:chgData name="M Selvam" userId="d6d9795e-cb7f-4ca4-909c-a1909c828893" providerId="ADAL" clId="{77D21AA8-553F-4AB2-8C7F-3DF8ADADA90D}" dt="2026-09-09T09:37:08.910" v="72" actId="478"/>
          <ac:picMkLst>
            <pc:docMk/>
            <pc:sldMk cId="695185364" sldId="1015"/>
            <ac:picMk id="4" creationId="{1660B1F0-D8A2-D976-9BE1-AD077549641E}"/>
          </ac:picMkLst>
        </pc:picChg>
        <pc:picChg chg="add mod">
          <ac:chgData name="M Selvam" userId="d6d9795e-cb7f-4ca4-909c-a1909c828893" providerId="ADAL" clId="{77D21AA8-553F-4AB2-8C7F-3DF8ADADA90D}" dt="2026-09-09T09:43:54.806" v="182" actId="14100"/>
          <ac:picMkLst>
            <pc:docMk/>
            <pc:sldMk cId="695185364" sldId="1015"/>
            <ac:picMk id="5" creationId="{24488C9D-2D30-3125-69F0-8049573055B2}"/>
          </ac:picMkLst>
        </pc:picChg>
      </pc:sldChg>
      <pc:sldChg chg="addSp delSp modSp mod">
        <pc:chgData name="M Selvam" userId="d6d9795e-cb7f-4ca4-909c-a1909c828893" providerId="ADAL" clId="{77D21AA8-553F-4AB2-8C7F-3DF8ADADA90D}" dt="2026-09-09T09:42:03.118" v="149" actId="14100"/>
        <pc:sldMkLst>
          <pc:docMk/>
          <pc:sldMk cId="3377631291" sldId="1025"/>
        </pc:sldMkLst>
        <pc:picChg chg="del">
          <ac:chgData name="M Selvam" userId="d6d9795e-cb7f-4ca4-909c-a1909c828893" providerId="ADAL" clId="{77D21AA8-553F-4AB2-8C7F-3DF8ADADA90D}" dt="2026-09-09T09:41:46.220" v="143" actId="478"/>
          <ac:picMkLst>
            <pc:docMk/>
            <pc:sldMk cId="3377631291" sldId="1025"/>
            <ac:picMk id="4" creationId="{530DEA0B-E191-D187-0E57-F98A779E2687}"/>
          </ac:picMkLst>
        </pc:picChg>
        <pc:picChg chg="add mod">
          <ac:chgData name="M Selvam" userId="d6d9795e-cb7f-4ca4-909c-a1909c828893" providerId="ADAL" clId="{77D21AA8-553F-4AB2-8C7F-3DF8ADADA90D}" dt="2026-09-09T09:42:03.118" v="149" actId="14100"/>
          <ac:picMkLst>
            <pc:docMk/>
            <pc:sldMk cId="3377631291" sldId="1025"/>
            <ac:picMk id="5" creationId="{9614CC03-5AC2-8C76-DAFE-BA60BA1CF8FA}"/>
          </ac:picMkLst>
        </pc:picChg>
      </pc:sldChg>
      <pc:sldChg chg="addSp delSp modSp mod">
        <pc:chgData name="M Selvam" userId="d6d9795e-cb7f-4ca4-909c-a1909c828893" providerId="ADAL" clId="{77D21AA8-553F-4AB2-8C7F-3DF8ADADA90D}" dt="2026-09-09T09:39:48.172" v="111" actId="1076"/>
        <pc:sldMkLst>
          <pc:docMk/>
          <pc:sldMk cId="1406624847" sldId="1026"/>
        </pc:sldMkLst>
        <pc:spChg chg="mod">
          <ac:chgData name="M Selvam" userId="d6d9795e-cb7f-4ca4-909c-a1909c828893" providerId="ADAL" clId="{77D21AA8-553F-4AB2-8C7F-3DF8ADADA90D}" dt="2026-09-09T09:39:35.588" v="107" actId="14100"/>
          <ac:spMkLst>
            <pc:docMk/>
            <pc:sldMk cId="1406624847" sldId="1026"/>
            <ac:spMk id="3" creationId="{E9FA628F-2ADF-3838-19A4-F5C7D3B047C6}"/>
          </ac:spMkLst>
        </pc:spChg>
        <pc:picChg chg="del">
          <ac:chgData name="M Selvam" userId="d6d9795e-cb7f-4ca4-909c-a1909c828893" providerId="ADAL" clId="{77D21AA8-553F-4AB2-8C7F-3DF8ADADA90D}" dt="2026-09-09T09:39:29.769" v="106" actId="478"/>
          <ac:picMkLst>
            <pc:docMk/>
            <pc:sldMk cId="1406624847" sldId="1026"/>
            <ac:picMk id="4" creationId="{71125AB7-5BA8-788F-021C-7F45B124B02D}"/>
          </ac:picMkLst>
        </pc:picChg>
        <pc:picChg chg="add mod">
          <ac:chgData name="M Selvam" userId="d6d9795e-cb7f-4ca4-909c-a1909c828893" providerId="ADAL" clId="{77D21AA8-553F-4AB2-8C7F-3DF8ADADA90D}" dt="2026-09-09T09:39:48.172" v="111" actId="1076"/>
          <ac:picMkLst>
            <pc:docMk/>
            <pc:sldMk cId="1406624847" sldId="1026"/>
            <ac:picMk id="5" creationId="{E315328B-2062-6B94-DEDE-8CFD1B404E8E}"/>
          </ac:picMkLst>
        </pc:picChg>
      </pc:sldChg>
      <pc:sldChg chg="addSp delSp modSp mod">
        <pc:chgData name="M Selvam" userId="d6d9795e-cb7f-4ca4-909c-a1909c828893" providerId="ADAL" clId="{77D21AA8-553F-4AB2-8C7F-3DF8ADADA90D}" dt="2026-09-09T09:43:29.255" v="175" actId="1076"/>
        <pc:sldMkLst>
          <pc:docMk/>
          <pc:sldMk cId="2893977295" sldId="1027"/>
        </pc:sldMkLst>
        <pc:spChg chg="mod">
          <ac:chgData name="M Selvam" userId="d6d9795e-cb7f-4ca4-909c-a1909c828893" providerId="ADAL" clId="{77D21AA8-553F-4AB2-8C7F-3DF8ADADA90D}" dt="2026-09-09T09:36:12.511" v="63" actId="1076"/>
          <ac:spMkLst>
            <pc:docMk/>
            <pc:sldMk cId="2893977295" sldId="1027"/>
            <ac:spMk id="3" creationId="{68C7B745-FF8F-90D5-CAD4-FE7D38645D69}"/>
          </ac:spMkLst>
        </pc:spChg>
        <pc:spChg chg="add del mod">
          <ac:chgData name="M Selvam" userId="d6d9795e-cb7f-4ca4-909c-a1909c828893" providerId="ADAL" clId="{77D21AA8-553F-4AB2-8C7F-3DF8ADADA90D}" dt="2026-09-09T09:35:03.462" v="46"/>
          <ac:spMkLst>
            <pc:docMk/>
            <pc:sldMk cId="2893977295" sldId="1027"/>
            <ac:spMk id="6" creationId="{F1B3039F-7EA2-E227-9D02-F0E6BED42A64}"/>
          </ac:spMkLst>
        </pc:spChg>
        <pc:picChg chg="del">
          <ac:chgData name="M Selvam" userId="d6d9795e-cb7f-4ca4-909c-a1909c828893" providerId="ADAL" clId="{77D21AA8-553F-4AB2-8C7F-3DF8ADADA90D}" dt="2026-09-09T09:34:34.405" v="40" actId="478"/>
          <ac:picMkLst>
            <pc:docMk/>
            <pc:sldMk cId="2893977295" sldId="1027"/>
            <ac:picMk id="4" creationId="{E26EF467-3DED-5C3E-3710-75BDCDED7288}"/>
          </ac:picMkLst>
        </pc:picChg>
        <pc:picChg chg="add mod">
          <ac:chgData name="M Selvam" userId="d6d9795e-cb7f-4ca4-909c-a1909c828893" providerId="ADAL" clId="{77D21AA8-553F-4AB2-8C7F-3DF8ADADA90D}" dt="2026-09-09T09:43:29.255" v="175" actId="1076"/>
          <ac:picMkLst>
            <pc:docMk/>
            <pc:sldMk cId="2893977295" sldId="1027"/>
            <ac:picMk id="5" creationId="{81FBD98C-77FA-F4F3-D8D1-E351DADE67A3}"/>
          </ac:picMkLst>
        </pc:picChg>
      </pc:sldChg>
      <pc:sldChg chg="addSp delSp modSp mod">
        <pc:chgData name="M Selvam" userId="d6d9795e-cb7f-4ca4-909c-a1909c828893" providerId="ADAL" clId="{77D21AA8-553F-4AB2-8C7F-3DF8ADADA90D}" dt="2026-09-09T09:44:24.793" v="188" actId="14100"/>
        <pc:sldMkLst>
          <pc:docMk/>
          <pc:sldMk cId="4197773981" sldId="1033"/>
        </pc:sldMkLst>
        <pc:picChg chg="del">
          <ac:chgData name="M Selvam" userId="d6d9795e-cb7f-4ca4-909c-a1909c828893" providerId="ADAL" clId="{77D21AA8-553F-4AB2-8C7F-3DF8ADADA90D}" dt="2026-09-09T09:39:52.545" v="112" actId="478"/>
          <ac:picMkLst>
            <pc:docMk/>
            <pc:sldMk cId="4197773981" sldId="1033"/>
            <ac:picMk id="4" creationId="{71125AB7-5BA8-788F-021C-7F45B124B02D}"/>
          </ac:picMkLst>
        </pc:picChg>
        <pc:picChg chg="add mod">
          <ac:chgData name="M Selvam" userId="d6d9795e-cb7f-4ca4-909c-a1909c828893" providerId="ADAL" clId="{77D21AA8-553F-4AB2-8C7F-3DF8ADADA90D}" dt="2026-09-09T09:44:24.793" v="188" actId="14100"/>
          <ac:picMkLst>
            <pc:docMk/>
            <pc:sldMk cId="4197773981" sldId="1033"/>
            <ac:picMk id="5" creationId="{09455320-2D9F-FA39-6651-A4D0ED124F51}"/>
          </ac:picMkLst>
        </pc:picChg>
      </pc:sldChg>
      <pc:sldChg chg="addSp delSp modSp mod">
        <pc:chgData name="M Selvam" userId="d6d9795e-cb7f-4ca4-909c-a1909c828893" providerId="ADAL" clId="{77D21AA8-553F-4AB2-8C7F-3DF8ADADA90D}" dt="2026-09-09T09:44:00.668" v="184" actId="14100"/>
        <pc:sldMkLst>
          <pc:docMk/>
          <pc:sldMk cId="3239980978" sldId="1034"/>
        </pc:sldMkLst>
        <pc:spChg chg="mod">
          <ac:chgData name="M Selvam" userId="d6d9795e-cb7f-4ca4-909c-a1909c828893" providerId="ADAL" clId="{77D21AA8-553F-4AB2-8C7F-3DF8ADADA90D}" dt="2026-09-09T09:37:38.069" v="79" actId="14100"/>
          <ac:spMkLst>
            <pc:docMk/>
            <pc:sldMk cId="3239980978" sldId="1034"/>
            <ac:spMk id="3" creationId="{E0A18EB9-D0B2-3DF1-D33D-B8F4D4C25F3A}"/>
          </ac:spMkLst>
        </pc:spChg>
        <pc:picChg chg="del">
          <ac:chgData name="M Selvam" userId="d6d9795e-cb7f-4ca4-909c-a1909c828893" providerId="ADAL" clId="{77D21AA8-553F-4AB2-8C7F-3DF8ADADA90D}" dt="2026-09-09T09:37:33.516" v="78" actId="478"/>
          <ac:picMkLst>
            <pc:docMk/>
            <pc:sldMk cId="3239980978" sldId="1034"/>
            <ac:picMk id="4" creationId="{A4B4A364-138F-E303-4886-AF5B2A6A67C2}"/>
          </ac:picMkLst>
        </pc:picChg>
        <pc:picChg chg="add mod">
          <ac:chgData name="M Selvam" userId="d6d9795e-cb7f-4ca4-909c-a1909c828893" providerId="ADAL" clId="{77D21AA8-553F-4AB2-8C7F-3DF8ADADA90D}" dt="2026-09-09T09:44:00.668" v="184" actId="14100"/>
          <ac:picMkLst>
            <pc:docMk/>
            <pc:sldMk cId="3239980978" sldId="1034"/>
            <ac:picMk id="5" creationId="{C9FE1904-C542-AA1E-2C15-5A81417C962A}"/>
          </ac:picMkLst>
        </pc:picChg>
      </pc:sldChg>
      <pc:sldChg chg="addSp delSp modSp mod">
        <pc:chgData name="M Selvam" userId="d6d9795e-cb7f-4ca4-909c-a1909c828893" providerId="ADAL" clId="{77D21AA8-553F-4AB2-8C7F-3DF8ADADA90D}" dt="2026-09-09T09:43:06.414" v="169" actId="14100"/>
        <pc:sldMkLst>
          <pc:docMk/>
          <pc:sldMk cId="3059570066" sldId="1035"/>
        </pc:sldMkLst>
        <pc:spChg chg="mod">
          <ac:chgData name="M Selvam" userId="d6d9795e-cb7f-4ca4-909c-a1909c828893" providerId="ADAL" clId="{77D21AA8-553F-4AB2-8C7F-3DF8ADADA90D}" dt="2026-09-09T09:42:53.443" v="164" actId="14100"/>
          <ac:spMkLst>
            <pc:docMk/>
            <pc:sldMk cId="3059570066" sldId="1035"/>
            <ac:spMk id="3" creationId="{E9FA628F-2ADF-3838-19A4-F5C7D3B047C6}"/>
          </ac:spMkLst>
        </pc:spChg>
        <pc:picChg chg="del">
          <ac:chgData name="M Selvam" userId="d6d9795e-cb7f-4ca4-909c-a1909c828893" providerId="ADAL" clId="{77D21AA8-553F-4AB2-8C7F-3DF8ADADA90D}" dt="2026-09-09T09:42:48.747" v="163" actId="478"/>
          <ac:picMkLst>
            <pc:docMk/>
            <pc:sldMk cId="3059570066" sldId="1035"/>
            <ac:picMk id="4" creationId="{71125AB7-5BA8-788F-021C-7F45B124B02D}"/>
          </ac:picMkLst>
        </pc:picChg>
        <pc:picChg chg="add mod">
          <ac:chgData name="M Selvam" userId="d6d9795e-cb7f-4ca4-909c-a1909c828893" providerId="ADAL" clId="{77D21AA8-553F-4AB2-8C7F-3DF8ADADA90D}" dt="2026-09-09T09:43:06.414" v="169" actId="14100"/>
          <ac:picMkLst>
            <pc:docMk/>
            <pc:sldMk cId="3059570066" sldId="1035"/>
            <ac:picMk id="5" creationId="{EF45E307-6A9E-5159-8B35-ADF54C109682}"/>
          </ac:picMkLst>
        </pc:picChg>
      </pc:sldChg>
      <pc:sldChg chg="addSp delSp modSp mod">
        <pc:chgData name="M Selvam" userId="d6d9795e-cb7f-4ca4-909c-a1909c828893" providerId="ADAL" clId="{77D21AA8-553F-4AB2-8C7F-3DF8ADADA90D}" dt="2026-09-09T09:44:08.883" v="186" actId="14100"/>
        <pc:sldMkLst>
          <pc:docMk/>
          <pc:sldMk cId="1532967047" sldId="1036"/>
        </pc:sldMkLst>
        <pc:picChg chg="del">
          <ac:chgData name="M Selvam" userId="d6d9795e-cb7f-4ca4-909c-a1909c828893" providerId="ADAL" clId="{77D21AA8-553F-4AB2-8C7F-3DF8ADADA90D}" dt="2026-09-09T09:38:20.900" v="86" actId="478"/>
          <ac:picMkLst>
            <pc:docMk/>
            <pc:sldMk cId="1532967047" sldId="1036"/>
            <ac:picMk id="4" creationId="{6F302A27-548C-EB9F-75AC-04869664022C}"/>
          </ac:picMkLst>
        </pc:picChg>
        <pc:picChg chg="add mod">
          <ac:chgData name="M Selvam" userId="d6d9795e-cb7f-4ca4-909c-a1909c828893" providerId="ADAL" clId="{77D21AA8-553F-4AB2-8C7F-3DF8ADADA90D}" dt="2026-09-09T09:44:08.883" v="186" actId="14100"/>
          <ac:picMkLst>
            <pc:docMk/>
            <pc:sldMk cId="1532967047" sldId="1036"/>
            <ac:picMk id="5" creationId="{8EAABE41-1A78-C313-15FA-4DAE2C1B936A}"/>
          </ac:picMkLst>
        </pc:picChg>
      </pc:sldChg>
      <pc:sldChg chg="addSp delSp modSp mod">
        <pc:chgData name="M Selvam" userId="d6d9795e-cb7f-4ca4-909c-a1909c828893" providerId="ADAL" clId="{77D21AA8-553F-4AB2-8C7F-3DF8ADADA90D}" dt="2026-09-09T09:44:13.574" v="187" actId="14100"/>
        <pc:sldMkLst>
          <pc:docMk/>
          <pc:sldMk cId="1613146428" sldId="1037"/>
        </pc:sldMkLst>
        <pc:spChg chg="add del">
          <ac:chgData name="M Selvam" userId="d6d9795e-cb7f-4ca4-909c-a1909c828893" providerId="ADAL" clId="{77D21AA8-553F-4AB2-8C7F-3DF8ADADA90D}" dt="2026-09-09T09:38:57.800" v="95"/>
          <ac:spMkLst>
            <pc:docMk/>
            <pc:sldMk cId="1613146428" sldId="1037"/>
            <ac:spMk id="2" creationId="{F5E6F616-BA4B-81FE-2F89-F371C90508B7}"/>
          </ac:spMkLst>
        </pc:spChg>
        <pc:spChg chg="mod">
          <ac:chgData name="M Selvam" userId="d6d9795e-cb7f-4ca4-909c-a1909c828893" providerId="ADAL" clId="{77D21AA8-553F-4AB2-8C7F-3DF8ADADA90D}" dt="2026-09-09T09:38:52.884" v="93" actId="14100"/>
          <ac:spMkLst>
            <pc:docMk/>
            <pc:sldMk cId="1613146428" sldId="1037"/>
            <ac:spMk id="3" creationId="{DF291E41-CF58-74B2-9E5F-75768CDC9158}"/>
          </ac:spMkLst>
        </pc:spChg>
        <pc:picChg chg="del mod">
          <ac:chgData name="M Selvam" userId="d6d9795e-cb7f-4ca4-909c-a1909c828893" providerId="ADAL" clId="{77D21AA8-553F-4AB2-8C7F-3DF8ADADA90D}" dt="2026-09-09T09:38:47.894" v="92" actId="478"/>
          <ac:picMkLst>
            <pc:docMk/>
            <pc:sldMk cId="1613146428" sldId="1037"/>
            <ac:picMk id="4" creationId="{C22FD9CF-9FEC-A241-0CC4-FD113EF594D4}"/>
          </ac:picMkLst>
        </pc:picChg>
        <pc:picChg chg="add mod">
          <ac:chgData name="M Selvam" userId="d6d9795e-cb7f-4ca4-909c-a1909c828893" providerId="ADAL" clId="{77D21AA8-553F-4AB2-8C7F-3DF8ADADA90D}" dt="2026-09-09T09:38:57.800" v="95"/>
          <ac:picMkLst>
            <pc:docMk/>
            <pc:sldMk cId="1613146428" sldId="1037"/>
            <ac:picMk id="5" creationId="{BB8AD62B-6EA9-E005-B618-9B63878987AA}"/>
          </ac:picMkLst>
        </pc:picChg>
        <pc:picChg chg="add mod">
          <ac:chgData name="M Selvam" userId="d6d9795e-cb7f-4ca4-909c-a1909c828893" providerId="ADAL" clId="{77D21AA8-553F-4AB2-8C7F-3DF8ADADA90D}" dt="2026-09-09T09:44:13.574" v="187" actId="14100"/>
          <ac:picMkLst>
            <pc:docMk/>
            <pc:sldMk cId="1613146428" sldId="1037"/>
            <ac:picMk id="6" creationId="{4321D194-BF7A-AFFD-A853-AAA15D97525B}"/>
          </ac:picMkLst>
        </pc:picChg>
      </pc:sldChg>
      <pc:sldChg chg="addSp delSp modSp mod">
        <pc:chgData name="M Selvam" userId="d6d9795e-cb7f-4ca4-909c-a1909c828893" providerId="ADAL" clId="{77D21AA8-553F-4AB2-8C7F-3DF8ADADA90D}" dt="2026-09-09T09:40:22.150" v="122" actId="1076"/>
        <pc:sldMkLst>
          <pc:docMk/>
          <pc:sldMk cId="2661305800" sldId="1038"/>
        </pc:sldMkLst>
        <pc:picChg chg="del">
          <ac:chgData name="M Selvam" userId="d6d9795e-cb7f-4ca4-909c-a1909c828893" providerId="ADAL" clId="{77D21AA8-553F-4AB2-8C7F-3DF8ADADA90D}" dt="2026-09-09T09:40:10.567" v="118" actId="478"/>
          <ac:picMkLst>
            <pc:docMk/>
            <pc:sldMk cId="2661305800" sldId="1038"/>
            <ac:picMk id="4" creationId="{C5D421F7-34F6-B423-BD32-6AFD7732491C}"/>
          </ac:picMkLst>
        </pc:picChg>
        <pc:picChg chg="add mod">
          <ac:chgData name="M Selvam" userId="d6d9795e-cb7f-4ca4-909c-a1909c828893" providerId="ADAL" clId="{77D21AA8-553F-4AB2-8C7F-3DF8ADADA90D}" dt="2026-09-09T09:40:22.150" v="122" actId="1076"/>
          <ac:picMkLst>
            <pc:docMk/>
            <pc:sldMk cId="2661305800" sldId="1038"/>
            <ac:picMk id="5" creationId="{69E31CD9-0893-71CD-A52F-CE13AF034AAA}"/>
          </ac:picMkLst>
        </pc:picChg>
      </pc:sldChg>
      <pc:sldChg chg="addSp delSp modSp mod">
        <pc:chgData name="M Selvam" userId="d6d9795e-cb7f-4ca4-909c-a1909c828893" providerId="ADAL" clId="{77D21AA8-553F-4AB2-8C7F-3DF8ADADA90D}" dt="2026-09-09T09:41:00.577" v="129" actId="1076"/>
        <pc:sldMkLst>
          <pc:docMk/>
          <pc:sldMk cId="3151414207" sldId="1039"/>
        </pc:sldMkLst>
        <pc:spChg chg="mod">
          <ac:chgData name="M Selvam" userId="d6d9795e-cb7f-4ca4-909c-a1909c828893" providerId="ADAL" clId="{77D21AA8-553F-4AB2-8C7F-3DF8ADADA90D}" dt="2026-09-09T09:40:49.037" v="124" actId="14100"/>
          <ac:spMkLst>
            <pc:docMk/>
            <pc:sldMk cId="3151414207" sldId="1039"/>
            <ac:spMk id="3" creationId="{ED121F08-AD64-6706-BBF1-E99AD8E172AB}"/>
          </ac:spMkLst>
        </pc:spChg>
        <pc:picChg chg="del">
          <ac:chgData name="M Selvam" userId="d6d9795e-cb7f-4ca4-909c-a1909c828893" providerId="ADAL" clId="{77D21AA8-553F-4AB2-8C7F-3DF8ADADA90D}" dt="2026-09-09T09:40:40.759" v="123" actId="478"/>
          <ac:picMkLst>
            <pc:docMk/>
            <pc:sldMk cId="3151414207" sldId="1039"/>
            <ac:picMk id="4" creationId="{4B688A92-D094-DFA8-C37F-55F638A100ED}"/>
          </ac:picMkLst>
        </pc:picChg>
        <pc:picChg chg="add mod">
          <ac:chgData name="M Selvam" userId="d6d9795e-cb7f-4ca4-909c-a1909c828893" providerId="ADAL" clId="{77D21AA8-553F-4AB2-8C7F-3DF8ADADA90D}" dt="2026-09-09T09:41:00.577" v="129" actId="1076"/>
          <ac:picMkLst>
            <pc:docMk/>
            <pc:sldMk cId="3151414207" sldId="1039"/>
            <ac:picMk id="5" creationId="{5E41F741-6C92-DBA8-8287-DCADD1E7CA3D}"/>
          </ac:picMkLst>
        </pc:picChg>
      </pc:sldChg>
      <pc:sldChg chg="addSp delSp modSp mod">
        <pc:chgData name="M Selvam" userId="d6d9795e-cb7f-4ca4-909c-a1909c828893" providerId="ADAL" clId="{77D21AA8-553F-4AB2-8C7F-3DF8ADADA90D}" dt="2026-09-09T09:41:21.724" v="136" actId="14100"/>
        <pc:sldMkLst>
          <pc:docMk/>
          <pc:sldMk cId="3424103010" sldId="1040"/>
        </pc:sldMkLst>
        <pc:picChg chg="del">
          <ac:chgData name="M Selvam" userId="d6d9795e-cb7f-4ca4-909c-a1909c828893" providerId="ADAL" clId="{77D21AA8-553F-4AB2-8C7F-3DF8ADADA90D}" dt="2026-09-09T09:41:05.040" v="130" actId="478"/>
          <ac:picMkLst>
            <pc:docMk/>
            <pc:sldMk cId="3424103010" sldId="1040"/>
            <ac:picMk id="4" creationId="{C4D81696-053B-0369-CCCB-94A69D7BFF89}"/>
          </ac:picMkLst>
        </pc:picChg>
        <pc:picChg chg="add mod">
          <ac:chgData name="M Selvam" userId="d6d9795e-cb7f-4ca4-909c-a1909c828893" providerId="ADAL" clId="{77D21AA8-553F-4AB2-8C7F-3DF8ADADA90D}" dt="2026-09-09T09:41:21.724" v="136" actId="14100"/>
          <ac:picMkLst>
            <pc:docMk/>
            <pc:sldMk cId="3424103010" sldId="1040"/>
            <ac:picMk id="5" creationId="{34E27D2C-6F90-7DF9-AB19-4F214FE76D09}"/>
          </ac:picMkLst>
        </pc:picChg>
      </pc:sldChg>
      <pc:sldChg chg="addSp delSp modSp mod">
        <pc:chgData name="M Selvam" userId="d6d9795e-cb7f-4ca4-909c-a1909c828893" providerId="ADAL" clId="{77D21AA8-553F-4AB2-8C7F-3DF8ADADA90D}" dt="2026-09-09T10:43:17.269" v="278" actId="20577"/>
        <pc:sldMkLst>
          <pc:docMk/>
          <pc:sldMk cId="4207118935" sldId="1041"/>
        </pc:sldMkLst>
        <pc:spChg chg="mod">
          <ac:chgData name="M Selvam" userId="d6d9795e-cb7f-4ca4-909c-a1909c828893" providerId="ADAL" clId="{77D21AA8-553F-4AB2-8C7F-3DF8ADADA90D}" dt="2026-09-09T10:43:17.269" v="278" actId="20577"/>
          <ac:spMkLst>
            <pc:docMk/>
            <pc:sldMk cId="4207118935" sldId="1041"/>
            <ac:spMk id="3" creationId="{69625804-55EE-9262-0513-B15AAAE3703A}"/>
          </ac:spMkLst>
        </pc:spChg>
        <pc:picChg chg="del">
          <ac:chgData name="M Selvam" userId="d6d9795e-cb7f-4ca4-909c-a1909c828893" providerId="ADAL" clId="{77D21AA8-553F-4AB2-8C7F-3DF8ADADA90D}" dt="2026-09-09T09:41:28.323" v="137" actId="478"/>
          <ac:picMkLst>
            <pc:docMk/>
            <pc:sldMk cId="4207118935" sldId="1041"/>
            <ac:picMk id="4" creationId="{C41EDFA5-D4F7-CF5E-05CA-F1D090EE9A81}"/>
          </ac:picMkLst>
        </pc:picChg>
        <pc:picChg chg="add mod">
          <ac:chgData name="M Selvam" userId="d6d9795e-cb7f-4ca4-909c-a1909c828893" providerId="ADAL" clId="{77D21AA8-553F-4AB2-8C7F-3DF8ADADA90D}" dt="2026-09-09T09:41:41.475" v="142" actId="14100"/>
          <ac:picMkLst>
            <pc:docMk/>
            <pc:sldMk cId="4207118935" sldId="1041"/>
            <ac:picMk id="5" creationId="{81A1E605-EF66-503F-9EFE-62349AAAD9CE}"/>
          </ac:picMkLst>
        </pc:picChg>
      </pc:sldChg>
      <pc:sldChg chg="addSp delSp modSp mod">
        <pc:chgData name="M Selvam" userId="d6d9795e-cb7f-4ca4-909c-a1909c828893" providerId="ADAL" clId="{77D21AA8-553F-4AB2-8C7F-3DF8ADADA90D}" dt="2026-09-09T10:44:26.372" v="334" actId="20577"/>
        <pc:sldMkLst>
          <pc:docMk/>
          <pc:sldMk cId="3059336372" sldId="1042"/>
        </pc:sldMkLst>
        <pc:spChg chg="mod">
          <ac:chgData name="M Selvam" userId="d6d9795e-cb7f-4ca4-909c-a1909c828893" providerId="ADAL" clId="{77D21AA8-553F-4AB2-8C7F-3DF8ADADA90D}" dt="2026-09-09T10:44:26.372" v="334" actId="20577"/>
          <ac:spMkLst>
            <pc:docMk/>
            <pc:sldMk cId="3059336372" sldId="1042"/>
            <ac:spMk id="3" creationId="{D11D1431-CBB1-2E8B-9D61-C266D7E354F4}"/>
          </ac:spMkLst>
        </pc:spChg>
        <pc:picChg chg="del">
          <ac:chgData name="M Selvam" userId="d6d9795e-cb7f-4ca4-909c-a1909c828893" providerId="ADAL" clId="{77D21AA8-553F-4AB2-8C7F-3DF8ADADA90D}" dt="2026-09-09T09:42:08.347" v="150" actId="478"/>
          <ac:picMkLst>
            <pc:docMk/>
            <pc:sldMk cId="3059336372" sldId="1042"/>
            <ac:picMk id="4" creationId="{B7BACBCA-7175-4B4F-1E27-85287EF57161}"/>
          </ac:picMkLst>
        </pc:picChg>
        <pc:picChg chg="add mod">
          <ac:chgData name="M Selvam" userId="d6d9795e-cb7f-4ca4-909c-a1909c828893" providerId="ADAL" clId="{77D21AA8-553F-4AB2-8C7F-3DF8ADADA90D}" dt="2026-09-09T09:42:19.030" v="154" actId="1076"/>
          <ac:picMkLst>
            <pc:docMk/>
            <pc:sldMk cId="3059336372" sldId="1042"/>
            <ac:picMk id="5" creationId="{EC9D29C0-805E-09D5-FBBC-105D2D7A27FA}"/>
          </ac:picMkLst>
        </pc:picChg>
      </pc:sldChg>
      <pc:sldChg chg="addSp delSp modSp mod">
        <pc:chgData name="M Selvam" userId="d6d9795e-cb7f-4ca4-909c-a1909c828893" providerId="ADAL" clId="{77D21AA8-553F-4AB2-8C7F-3DF8ADADA90D}" dt="2026-09-09T10:44:44.818" v="358" actId="20577"/>
        <pc:sldMkLst>
          <pc:docMk/>
          <pc:sldMk cId="2649194420" sldId="1043"/>
        </pc:sldMkLst>
        <pc:spChg chg="mod">
          <ac:chgData name="M Selvam" userId="d6d9795e-cb7f-4ca4-909c-a1909c828893" providerId="ADAL" clId="{77D21AA8-553F-4AB2-8C7F-3DF8ADADA90D}" dt="2026-09-09T10:44:44.818" v="358" actId="20577"/>
          <ac:spMkLst>
            <pc:docMk/>
            <pc:sldMk cId="2649194420" sldId="1043"/>
            <ac:spMk id="3" creationId="{BFD1F075-A6AF-DC0E-0383-CB3781E97989}"/>
          </ac:spMkLst>
        </pc:spChg>
        <pc:picChg chg="del">
          <ac:chgData name="M Selvam" userId="d6d9795e-cb7f-4ca4-909c-a1909c828893" providerId="ADAL" clId="{77D21AA8-553F-4AB2-8C7F-3DF8ADADA90D}" dt="2026-09-09T09:42:22.604" v="155" actId="478"/>
          <ac:picMkLst>
            <pc:docMk/>
            <pc:sldMk cId="2649194420" sldId="1043"/>
            <ac:picMk id="4" creationId="{18FD9FB3-6EC2-DEB2-9BE4-5349E73E5C4A}"/>
          </ac:picMkLst>
        </pc:picChg>
        <pc:picChg chg="add mod">
          <ac:chgData name="M Selvam" userId="d6d9795e-cb7f-4ca4-909c-a1909c828893" providerId="ADAL" clId="{77D21AA8-553F-4AB2-8C7F-3DF8ADADA90D}" dt="2026-09-09T09:42:42.897" v="162" actId="14100"/>
          <ac:picMkLst>
            <pc:docMk/>
            <pc:sldMk cId="2649194420" sldId="1043"/>
            <ac:picMk id="5" creationId="{CD3C8A54-DB36-4EFB-9F5E-BC062E18F093}"/>
          </ac:picMkLst>
        </pc:picChg>
      </pc:sldChg>
      <pc:sldChg chg="modSp add mod">
        <pc:chgData name="M Selvam" userId="d6d9795e-cb7f-4ca4-909c-a1909c828893" providerId="ADAL" clId="{77D21AA8-553F-4AB2-8C7F-3DF8ADADA90D}" dt="2026-09-09T10:42:46.846" v="218" actId="20577"/>
        <pc:sldMkLst>
          <pc:docMk/>
          <pc:sldMk cId="2150593120" sldId="1044"/>
        </pc:sldMkLst>
        <pc:spChg chg="mod">
          <ac:chgData name="M Selvam" userId="d6d9795e-cb7f-4ca4-909c-a1909c828893" providerId="ADAL" clId="{77D21AA8-553F-4AB2-8C7F-3DF8ADADA90D}" dt="2026-09-09T10:42:46.846" v="218" actId="20577"/>
          <ac:spMkLst>
            <pc:docMk/>
            <pc:sldMk cId="2150593120" sldId="1044"/>
            <ac:spMk id="3" creationId="{A32D421F-1615-2669-0698-211111DAE13D}"/>
          </ac:spMkLst>
        </pc:spChg>
      </pc:sldChg>
      <pc:sldChg chg="modSp add mod">
        <pc:chgData name="M Selvam" userId="d6d9795e-cb7f-4ca4-909c-a1909c828893" providerId="ADAL" clId="{77D21AA8-553F-4AB2-8C7F-3DF8ADADA90D}" dt="2026-09-09T10:43:04.298" v="256" actId="20577"/>
        <pc:sldMkLst>
          <pc:docMk/>
          <pc:sldMk cId="3967463539" sldId="1045"/>
        </pc:sldMkLst>
        <pc:spChg chg="mod">
          <ac:chgData name="M Selvam" userId="d6d9795e-cb7f-4ca4-909c-a1909c828893" providerId="ADAL" clId="{77D21AA8-553F-4AB2-8C7F-3DF8ADADA90D}" dt="2026-09-09T10:43:04.298" v="256" actId="20577"/>
          <ac:spMkLst>
            <pc:docMk/>
            <pc:sldMk cId="3967463539" sldId="1045"/>
            <ac:spMk id="3" creationId="{64961CD4-3E10-98EF-AD19-1669748F6FCB}"/>
          </ac:spMkLst>
        </pc:spChg>
      </pc:sldChg>
      <pc:sldChg chg="add del">
        <pc:chgData name="M Selvam" userId="d6d9795e-cb7f-4ca4-909c-a1909c828893" providerId="ADAL" clId="{77D21AA8-553F-4AB2-8C7F-3DF8ADADA90D}" dt="2026-09-09T10:44:54.063" v="359" actId="47"/>
        <pc:sldMkLst>
          <pc:docMk/>
          <pc:sldMk cId="2190406105" sldId="1046"/>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00" b="1">
                <a:latin typeface="Times New Roman"/>
              </a:rPr>
              <a:t>Top violations in Bengaluru, Jan–Apr 2025 (lakh cases)</a:t>
            </a:r>
          </a:p>
        </c:rich>
      </c:tx>
      <c:overlay val="0"/>
    </c:title>
    <c:autoTitleDeleted val="0"/>
    <c:plotArea>
      <c:layout/>
      <c:barChart>
        <c:barDir val="bar"/>
        <c:grouping val="clustered"/>
        <c:varyColors val="1"/>
        <c:ser>
          <c:idx val="0"/>
          <c:order val="0"/>
          <c:tx>
            <c:strRef>
              <c:f>Sheet1!$B$1</c:f>
              <c:strCache>
                <c:ptCount val="1"/>
                <c:pt idx="0">
                  <c:v>Cases (lakh), Jan–Apr 2025</c:v>
                </c:pt>
              </c:strCache>
            </c:strRef>
          </c:tx>
          <c:invertIfNegative val="1"/>
          <c:dPt>
            <c:idx val="0"/>
            <c:invertIfNegative val="1"/>
            <c:bubble3D val="0"/>
            <c:spPr>
              <a:solidFill>
                <a:srgbClr val="C0392B"/>
              </a:solidFill>
            </c:spPr>
            <c:extLst>
              <c:ext xmlns:c16="http://schemas.microsoft.com/office/drawing/2014/chart" uri="{C3380CC4-5D6E-409C-BE32-E72D297353CC}">
                <c16:uniqueId val="{00000001-0623-4104-9C9D-CAC8E4386306}"/>
              </c:ext>
            </c:extLst>
          </c:dPt>
          <c:dPt>
            <c:idx val="1"/>
            <c:invertIfNegative val="1"/>
            <c:bubble3D val="0"/>
            <c:spPr>
              <a:solidFill>
                <a:srgbClr val="4F81BD"/>
              </a:solidFill>
            </c:spPr>
            <c:extLst>
              <c:ext xmlns:c16="http://schemas.microsoft.com/office/drawing/2014/chart" uri="{C3380CC4-5D6E-409C-BE32-E72D297353CC}">
                <c16:uniqueId val="{00000003-0623-4104-9C9D-CAC8E4386306}"/>
              </c:ext>
            </c:extLst>
          </c:dPt>
          <c:dPt>
            <c:idx val="2"/>
            <c:invertIfNegative val="1"/>
            <c:bubble3D val="0"/>
            <c:spPr>
              <a:solidFill>
                <a:srgbClr val="2E8B57"/>
              </a:solidFill>
            </c:spPr>
            <c:extLst>
              <c:ext xmlns:c16="http://schemas.microsoft.com/office/drawing/2014/chart" uri="{C3380CC4-5D6E-409C-BE32-E72D297353CC}">
                <c16:uniqueId val="{00000005-0623-4104-9C9D-CAC8E4386306}"/>
              </c:ext>
            </c:extLst>
          </c:dPt>
          <c:dLbls>
            <c:numFmt formatCode="0.0" sourceLinked="0"/>
            <c:spPr>
              <a:noFill/>
              <a:ln>
                <a:noFill/>
              </a:ln>
              <a:effectLst/>
            </c:spPr>
            <c:txPr>
              <a:bodyPr/>
              <a:lstStyle/>
              <a:p>
                <a:pPr>
                  <a:defRPr sz="12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helmet</c:v>
                </c:pt>
                <c:pt idx="1">
                  <c:v>No seatbelt</c:v>
                </c:pt>
                <c:pt idx="2">
                  <c:v>Signal jumping</c:v>
                </c:pt>
              </c:strCache>
            </c:strRef>
          </c:cat>
          <c:val>
            <c:numRef>
              <c:f>Sheet1!$B$2:$B$4</c:f>
              <c:numCache>
                <c:formatCode>General</c:formatCode>
                <c:ptCount val="3"/>
                <c:pt idx="0">
                  <c:v>9.8000000000000007</c:v>
                </c:pt>
                <c:pt idx="1">
                  <c:v>2.5</c:v>
                </c:pt>
                <c:pt idx="2">
                  <c:v>2</c:v>
                </c:pt>
              </c:numCache>
            </c:numRef>
          </c:val>
          <c:extLst>
            <c:ext xmlns:c16="http://schemas.microsoft.com/office/drawing/2014/chart" uri="{C3380CC4-5D6E-409C-BE32-E72D297353CC}">
              <c16:uniqueId val="{00000006-0623-4104-9C9D-CAC8E438630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595959"/>
            </a:solidFill>
          </a:ln>
        </c:spPr>
        <c:txPr>
          <a:bodyPr/>
          <a:lstStyle/>
          <a:p>
            <a:pPr>
              <a:defRPr sz="1200">
                <a:latin typeface="Times New Roman"/>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53F2378-E9BC-4DF3-B317-060928E4E621}" type="datetimeFigureOut">
              <a:rPr lang="en-US" smtClean="0"/>
              <a:pPr/>
              <a:t>9/23/2026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D99B9-BA06-4A87-B300-D8D5C0E3ED1F}" type="slidenum">
              <a:rPr lang="en-US" smtClean="0"/>
              <a:pPr/>
              <a:t>‹#›</a:t>
            </a:fld>
            <a:endParaRPr lang="en-US"/>
          </a:p>
        </p:txBody>
      </p:sp>
    </p:spTree>
    <p:extLst>
      <p:ext uri="{BB962C8B-B14F-4D97-AF65-F5344CB8AC3E}">
        <p14:creationId xmlns:p14="http://schemas.microsoft.com/office/powerpoint/2010/main" val="1093894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A7B44CD-007F-4479-9F76-504AB024A03E}" type="datetimeFigureOut">
              <a:rPr lang="en-US"/>
              <a:pPr>
                <a:defRPr/>
              </a:pPr>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FD4853D3-BCEF-4909-916C-A78958746ECE}" type="slidenum">
              <a:rPr lang="en-US"/>
              <a:pPr>
                <a:defRPr/>
              </a:pPr>
              <a:t>‹#›</a:t>
            </a:fld>
            <a:endParaRPr lang="en-US"/>
          </a:p>
        </p:txBody>
      </p:sp>
    </p:spTree>
    <p:extLst>
      <p:ext uri="{BB962C8B-B14F-4D97-AF65-F5344CB8AC3E}">
        <p14:creationId xmlns:p14="http://schemas.microsoft.com/office/powerpoint/2010/main" val="3347657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pPr>
              <a:defRPr/>
            </a:pPr>
            <a:fld id="{FD4853D3-BCEF-4909-916C-A78958746ECE}" type="slidenum">
              <a:rPr lang="en-US" smtClean="0"/>
              <a:pPr>
                <a:defRPr/>
              </a:pPr>
              <a:t>1</a:t>
            </a:fld>
            <a:endParaRPr lang="en-US"/>
          </a:p>
        </p:txBody>
      </p:sp>
    </p:spTree>
    <p:extLst>
      <p:ext uri="{BB962C8B-B14F-4D97-AF65-F5344CB8AC3E}">
        <p14:creationId xmlns:p14="http://schemas.microsoft.com/office/powerpoint/2010/main" val="257739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228600"/>
            <a:ext cx="10972800" cy="563562"/>
          </a:xfrm>
        </p:spPr>
        <p:txBody>
          <a:bodyPr>
            <a:normAutofit/>
          </a:bodyPr>
          <a:lstStyle>
            <a:lvl1pPr algn="l">
              <a:defRPr sz="2800"/>
            </a:lvl1p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p:cNvSpPr txBox="1"/>
          <p:nvPr/>
        </p:nvSpPr>
        <p:spPr>
          <a:xfrm>
            <a:off x="10927472" y="6553201"/>
            <a:ext cx="1219200" cy="276999"/>
          </a:xfrm>
          <a:prstGeom prst="rect">
            <a:avLst/>
          </a:prstGeom>
          <a:noFill/>
        </p:spPr>
        <p:txBody>
          <a:bodyPr wrap="square" rtlCol="0">
            <a:spAutoFit/>
          </a:bodyPr>
          <a:lstStyle/>
          <a:p>
            <a:pPr algn="r"/>
            <a:fld id="{E80FD4C6-48AB-4634-9A0B-834BD7BA5A0C}" type="slidenum">
              <a:rPr lang="en-IN" sz="1200" smtClean="0">
                <a:latin typeface="+mn-lt"/>
              </a:rPr>
              <a:pPr algn="r"/>
              <a:t>‹#›</a:t>
            </a:fld>
            <a:endParaRPr lang="en-IN" sz="1200">
              <a:latin typeface="+mn-lt"/>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4" r:id="rId3"/>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0112947-B9C2-2E92-2ED4-7AE86C45CC4F}"/>
              </a:ext>
            </a:extLst>
          </p:cNvPr>
          <p:cNvSpPr>
            <a:spLocks noGrp="1"/>
          </p:cNvSpPr>
          <p:nvPr>
            <p:ph type="subTitle" idx="1"/>
          </p:nvPr>
        </p:nvSpPr>
        <p:spPr>
          <a:xfrm>
            <a:off x="1070808" y="2148840"/>
            <a:ext cx="8534400" cy="4555996"/>
          </a:xfrm>
        </p:spPr>
        <p:txBody>
          <a:bodyPr vert="horz" lIns="91440" tIns="45720" rIns="91440" bIns="45720" rtlCol="0" anchor="t">
            <a:normAutofit lnSpcReduction="10000"/>
          </a:bodyPr>
          <a:lstStyle/>
          <a:p>
            <a:pPr algn="just">
              <a:defRPr/>
            </a:pPr>
            <a:r>
              <a:rPr lang="en-IN" dirty="0">
                <a:latin typeface="Times New Roman"/>
                <a:cs typeface="Times New Roman"/>
              </a:rPr>
              <a:t>Team Members: </a:t>
            </a:r>
            <a:endParaRPr lang="en-IN" dirty="0">
              <a:latin typeface="Times New Roman" panose="02020603050405020304" pitchFamily="18" charset="0"/>
              <a:cs typeface="Times New Roman" panose="02020603050405020304" pitchFamily="18" charset="0"/>
            </a:endParaRPr>
          </a:p>
          <a:p>
            <a:pPr marL="971550" indent="-514350" algn="just">
              <a:buAutoNum type="arabicPeriod"/>
              <a:defRPr/>
            </a:pPr>
            <a:r>
              <a:rPr lang="en-IN" dirty="0">
                <a:ea typeface="+mn-lt"/>
                <a:cs typeface="+mn-lt"/>
              </a:rPr>
              <a:t>Sanjay N/2411021061200</a:t>
            </a:r>
          </a:p>
          <a:p>
            <a:pPr marL="971550" indent="-514350" algn="just">
              <a:buAutoNum type="arabicPeriod"/>
              <a:defRPr/>
            </a:pPr>
            <a:r>
              <a:rPr lang="en-IN" dirty="0">
                <a:latin typeface="Times New Roman"/>
                <a:ea typeface="+mn-lt"/>
                <a:cs typeface="+mn-lt"/>
              </a:rPr>
              <a:t>Vivek H/2411021061234</a:t>
            </a:r>
          </a:p>
          <a:p>
            <a:pPr marL="971550" indent="-514350" algn="just">
              <a:buAutoNum type="arabicPeriod"/>
              <a:defRPr/>
            </a:pPr>
            <a:r>
              <a:rPr lang="en-IN" dirty="0">
                <a:latin typeface="Times New Roman"/>
                <a:ea typeface="+mn-lt"/>
                <a:cs typeface="+mn-lt"/>
              </a:rPr>
              <a:t>Pavan </a:t>
            </a:r>
            <a:r>
              <a:rPr lang="en-IN" dirty="0" err="1">
                <a:latin typeface="Times New Roman"/>
                <a:ea typeface="+mn-lt"/>
                <a:cs typeface="+mn-lt"/>
              </a:rPr>
              <a:t>urs</a:t>
            </a:r>
            <a:r>
              <a:rPr lang="en-IN" dirty="0">
                <a:latin typeface="Times New Roman"/>
                <a:ea typeface="+mn-lt"/>
                <a:cs typeface="+mn-lt"/>
              </a:rPr>
              <a:t> B K/2411021061272</a:t>
            </a:r>
          </a:p>
          <a:p>
            <a:pPr marL="971550" indent="-514350" algn="just">
              <a:buAutoNum type="arabicPeriod"/>
              <a:defRPr/>
            </a:pPr>
            <a:r>
              <a:rPr lang="en-IN" dirty="0">
                <a:ea typeface="+mn-lt"/>
                <a:cs typeface="+mn-lt"/>
              </a:rPr>
              <a:t>Mohammed Aatif Zafar/2411021061282</a:t>
            </a:r>
          </a:p>
          <a:p>
            <a:pPr lvl="1" algn="just">
              <a:defRPr/>
            </a:pPr>
            <a:endParaRPr lang="en-IN" dirty="0">
              <a:latin typeface="Times New Roman" panose="02020603050405020304" pitchFamily="18" charset="0"/>
              <a:cs typeface="Times New Roman" panose="02020603050405020304" pitchFamily="18" charset="0"/>
            </a:endParaRPr>
          </a:p>
          <a:p>
            <a:pPr algn="just">
              <a:defRPr/>
            </a:pPr>
            <a:r>
              <a:rPr lang="en-IN" dirty="0">
                <a:latin typeface="Times New Roman"/>
                <a:cs typeface="Times New Roman"/>
              </a:rPr>
              <a:t>Name of the Mentor: Dr. Jayabhaduri R</a:t>
            </a:r>
            <a:endParaRPr lang="en-IN" sz="3200" dirty="0">
              <a:latin typeface="Times New Roman"/>
              <a:cs typeface="Times New Roman"/>
            </a:endParaRPr>
          </a:p>
          <a:p>
            <a:pPr algn="just">
              <a:defRPr/>
            </a:pPr>
            <a:r>
              <a:rPr lang="en-US" sz="3200" dirty="0">
                <a:latin typeface="Bookman Old Style"/>
              </a:rPr>
              <a:t>E1CSA313/E1ITA306 Design Project -1 </a:t>
            </a:r>
          </a:p>
          <a:p>
            <a:endParaRPr lang="en-IN" dirty="0"/>
          </a:p>
        </p:txBody>
      </p:sp>
      <p:sp>
        <p:nvSpPr>
          <p:cNvPr id="2" name="Subtitle 5">
            <a:extLst>
              <a:ext uri="{FF2B5EF4-FFF2-40B4-BE49-F238E27FC236}">
                <a16:creationId xmlns:a16="http://schemas.microsoft.com/office/drawing/2014/main" id="{27730FEB-39A4-55AF-1A5E-7D14BEA4EF64}"/>
              </a:ext>
            </a:extLst>
          </p:cNvPr>
          <p:cNvSpPr txBox="1">
            <a:spLocks/>
          </p:cNvSpPr>
          <p:nvPr/>
        </p:nvSpPr>
        <p:spPr>
          <a:xfrm>
            <a:off x="1069848" y="868680"/>
            <a:ext cx="7498079" cy="1097280"/>
          </a:xfrm>
          <a:prstGeom prst="rect">
            <a:avLst/>
          </a:prstGeom>
        </p:spPr>
        <p:txBody>
          <a:bodyPr vert="horz" wrap="square"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r>
              <a:rPr lang="en-IN" sz="3000" b="1" dirty="0">
                <a:solidFill>
                  <a:srgbClr val="1F1F1F"/>
                </a:solidFill>
                <a:latin typeface="Times New Roman"/>
                <a:cs typeface="Times New Roman"/>
              </a:rPr>
              <a:t>AI-Driven Smart Traffic Violation Detection and Alert System</a:t>
            </a:r>
            <a:endParaRPr lang="en-IN" b="1" dirty="0">
              <a:latin typeface="Times New Roman" panose="02020603050405020304" pitchFamily="18" charset="0"/>
              <a:cs typeface="Times New Roman" panose="02020603050405020304" pitchFamily="18" charset="0"/>
            </a:endParaRPr>
          </a:p>
          <a:p>
            <a:pPr fontAlgn="auto">
              <a:spcAft>
                <a:spcPts val="0"/>
              </a:spcAft>
            </a:pPr>
            <a:endParaRPr lang="en-IN" dirty="0"/>
          </a:p>
        </p:txBody>
      </p:sp>
      <p:pic>
        <p:nvPicPr>
          <p:cNvPr id="4" name="Picture 3">
            <a:extLst>
              <a:ext uri="{FF2B5EF4-FFF2-40B4-BE49-F238E27FC236}">
                <a16:creationId xmlns:a16="http://schemas.microsoft.com/office/drawing/2014/main" id="{9D471D20-F6B2-348C-6B60-AFE0319ECD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54255" y="153857"/>
            <a:ext cx="3125501" cy="63086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037F-BF3C-25A0-59D8-5919CD38E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4E8D8-8E72-3C38-A5E9-E80E419F817B}"/>
              </a:ext>
            </a:extLst>
          </p:cNvPr>
          <p:cNvSpPr>
            <a:spLocks noGrp="1"/>
          </p:cNvSpPr>
          <p:nvPr>
            <p:ph idx="1"/>
          </p:nvPr>
        </p:nvSpPr>
        <p:spPr>
          <a:xfrm>
            <a:off x="609600" y="579483"/>
            <a:ext cx="11175032" cy="6262595"/>
          </a:xfrm>
        </p:spPr>
        <p:txBody>
          <a:bodyPr>
            <a:noAutofit/>
          </a:bodyPr>
          <a:lstStyle/>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Review of literature (Refer minimum of 10 Recent Journal / Conference papers)</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Observations from the literature review (Brief description as points)</a:t>
            </a:r>
          </a:p>
          <a:p>
            <a:pPr marL="342900" indent="-342900">
              <a:lnSpc>
                <a:spcPct val="150000"/>
              </a:lnSpc>
              <a:buFontTx/>
              <a:buAutoNum type="arabicPeriod"/>
            </a:pPr>
            <a:r>
              <a:rPr lang="en-US" sz="2400" dirty="0">
                <a:latin typeface="Times New Roman" panose="02020603050405020304" pitchFamily="18" charset="0"/>
                <a:cs typeface="Times New Roman" panose="02020603050405020304" pitchFamily="18" charset="0"/>
              </a:rPr>
              <a:t>Limitations from the literature review (Brief description as points)</a:t>
            </a:r>
          </a:p>
          <a:p>
            <a:pPr marL="342900" indent="-342900">
              <a:lnSpc>
                <a:spcPct val="150000"/>
              </a:lnSpc>
              <a:buFontTx/>
              <a:buAutoNum type="arabicPeriod"/>
            </a:pPr>
            <a:r>
              <a:rPr lang="en-US" sz="2400" dirty="0">
                <a:latin typeface="Times New Roman" panose="02020603050405020304" pitchFamily="18" charset="0"/>
                <a:cs typeface="Times New Roman" panose="02020603050405020304" pitchFamily="18" charset="0"/>
              </a:rPr>
              <a:t>Problem Definition &amp; Proposed Methodology</a:t>
            </a:r>
          </a:p>
          <a:p>
            <a:pPr marL="914400" lvl="1" indent="-514350">
              <a:buAutoNum type="alphaLcPeriod"/>
            </a:pPr>
            <a:r>
              <a:rPr lang="en-US" sz="2400" dirty="0">
                <a:latin typeface="Times New Roman" panose="02020603050405020304" pitchFamily="18" charset="0"/>
                <a:cs typeface="Times New Roman" panose="02020603050405020304" pitchFamily="18" charset="0"/>
              </a:rPr>
              <a:t>Problem Statement</a:t>
            </a:r>
          </a:p>
          <a:p>
            <a:pPr marL="914400" lvl="1" indent="-514350">
              <a:buAutoNum type="alphaLcPeriod"/>
            </a:pPr>
            <a:r>
              <a:rPr lang="en-US" sz="2400" dirty="0">
                <a:latin typeface="Times New Roman" panose="02020603050405020304" pitchFamily="18" charset="0"/>
                <a:cs typeface="Times New Roman" panose="02020603050405020304" pitchFamily="18" charset="0"/>
              </a:rPr>
              <a:t>Proposed Research / Methodology</a:t>
            </a:r>
          </a:p>
          <a:p>
            <a:pPr marL="914400" lvl="1" indent="-514350">
              <a:buAutoNum type="alphaLcPeriod"/>
            </a:pPr>
            <a:r>
              <a:rPr lang="en-US" sz="2400" dirty="0">
                <a:latin typeface="Times New Roman" panose="02020603050405020304" pitchFamily="18" charset="0"/>
                <a:cs typeface="Times New Roman" panose="02020603050405020304" pitchFamily="18" charset="0"/>
              </a:rPr>
              <a:t>Hardware Requirements</a:t>
            </a:r>
          </a:p>
          <a:p>
            <a:pPr marL="914400" lvl="1" indent="-514350">
              <a:buAutoNum type="alphaLcPeriod"/>
            </a:pPr>
            <a:r>
              <a:rPr lang="en-US" sz="2400" dirty="0">
                <a:latin typeface="Times New Roman" panose="02020603050405020304" pitchFamily="18" charset="0"/>
                <a:cs typeface="Times New Roman" panose="02020603050405020304" pitchFamily="18" charset="0"/>
              </a:rPr>
              <a:t>Software Requirements</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References ( Min. of 10 papers)</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Plagiarism Report</a:t>
            </a:r>
          </a:p>
          <a:p>
            <a:pPr marL="342900" indent="-342900">
              <a:lnSpc>
                <a:spcPct val="150000"/>
              </a:lnSpc>
              <a:buAutoNum type="arabicPeriod"/>
            </a:pPr>
            <a:endParaRPr lang="en-US"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8C7B745-FF8F-90D5-CAD4-FE7D38645D69}"/>
              </a:ext>
            </a:extLst>
          </p:cNvPr>
          <p:cNvSpPr>
            <a:spLocks noGrp="1"/>
          </p:cNvSpPr>
          <p:nvPr>
            <p:ph type="title"/>
          </p:nvPr>
        </p:nvSpPr>
        <p:spPr>
          <a:xfrm>
            <a:off x="1703882" y="171803"/>
            <a:ext cx="6180944" cy="563562"/>
          </a:xfrm>
        </p:spPr>
        <p:txBody>
          <a:bodyPr>
            <a:noAutofit/>
          </a:bodyPr>
          <a:lstStyle/>
          <a:p>
            <a:pPr algn="ctr">
              <a:lnSpc>
                <a:spcPct val="150000"/>
              </a:lnSpc>
            </a:pP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Agenda</a:t>
            </a:r>
            <a:br>
              <a:rPr lang="en-US" sz="3200" b="1"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81FBD98C-77FA-F4F3-D8D1-E351DADE67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24275" y="297702"/>
            <a:ext cx="3210257" cy="563562"/>
          </a:xfrm>
          <a:prstGeom prst="rect">
            <a:avLst/>
          </a:prstGeom>
        </p:spPr>
      </p:pic>
    </p:spTree>
    <p:extLst>
      <p:ext uri="{BB962C8B-B14F-4D97-AF65-F5344CB8AC3E}">
        <p14:creationId xmlns:p14="http://schemas.microsoft.com/office/powerpoint/2010/main" val="28939772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E9103-52C6-689F-10D5-B7A7B5531D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386010-7A55-512E-9ACA-BAA4168A27A9}"/>
              </a:ext>
            </a:extLst>
          </p:cNvPr>
          <p:cNvSpPr>
            <a:spLocks noGrp="1"/>
          </p:cNvSpPr>
          <p:nvPr>
            <p:ph type="title"/>
          </p:nvPr>
        </p:nvSpPr>
        <p:spPr/>
        <p:txBody>
          <a:bodyPr>
            <a:noAutofit/>
          </a:bodyPr>
          <a:lstStyle/>
          <a:p>
            <a:pPr algn="ctr">
              <a:lnSpc>
                <a:spcPct val="150000"/>
              </a:lnSpc>
            </a:pPr>
            <a:r>
              <a:rPr lang="en-US" sz="3200" b="1" dirty="0">
                <a:latin typeface="Times New Roman" panose="02020603050405020304" pitchFamily="18" charset="0"/>
                <a:cs typeface="Times New Roman" panose="02020603050405020304" pitchFamily="18" charset="0"/>
              </a:rPr>
              <a:t>Introduction</a:t>
            </a:r>
          </a:p>
        </p:txBody>
      </p:sp>
      <p:sp>
        <p:nvSpPr>
          <p:cNvPr id="7" name="Content Placeholder 6">
            <a:extLst>
              <a:ext uri="{FF2B5EF4-FFF2-40B4-BE49-F238E27FC236}">
                <a16:creationId xmlns:a16="http://schemas.microsoft.com/office/drawing/2014/main" id="{3280A4A6-FE4E-5BD7-0D80-570328273E09}"/>
              </a:ext>
            </a:extLst>
          </p:cNvPr>
          <p:cNvSpPr>
            <a:spLocks noGrp="1"/>
          </p:cNvSpPr>
          <p:nvPr>
            <p:ph idx="1"/>
          </p:nvPr>
        </p:nvSpPr>
        <p:spPr>
          <a:xfrm>
            <a:off x="548640" y="1097280"/>
            <a:ext cx="6949440" cy="5394960"/>
          </a:xfrm>
        </p:spPr>
        <p:txBody>
          <a:bodyPr vert="horz" lIns="91440" tIns="45720" rIns="91440" bIns="45720" rtlCol="0" anchor="t">
            <a:normAutofit/>
          </a:bodyPr>
          <a:lstStyle/>
          <a:p>
            <a:pPr marL="342900" indent="-342900" algn="l">
              <a:spcAft>
                <a:spcPts val="800"/>
              </a:spcAft>
              <a:buFont typeface="Arial"/>
              <a:buChar char="•"/>
            </a:pPr>
            <a:r>
              <a:rPr sz="1800" b="1" i="0">
                <a:latin typeface="Times New Roman"/>
                <a:cs typeface="Times New Roman"/>
              </a:rPr>
              <a:t>Context: </a:t>
            </a:r>
            <a:r>
              <a:rPr sz="1800" b="0" i="0">
                <a:latin typeface="Times New Roman"/>
                <a:cs typeface="Times New Roman"/>
              </a:rPr>
              <a:t>Bengaluru's roads carry dense, mixed traffic of two-wheelers, cars, autorickshaws and buses; manual policing cannot watch every junction.</a:t>
            </a:r>
          </a:p>
          <a:p>
            <a:pPr marL="342900" indent="-342900" algn="l">
              <a:spcAft>
                <a:spcPts val="800"/>
              </a:spcAft>
              <a:buFont typeface="Arial"/>
              <a:buChar char="•"/>
            </a:pPr>
            <a:r>
              <a:rPr sz="1800" b="1" i="0">
                <a:latin typeface="Times New Roman"/>
                <a:cs typeface="Times New Roman"/>
              </a:rPr>
              <a:t>Existing system: </a:t>
            </a:r>
            <a:r>
              <a:rPr sz="1800" b="0" i="0">
                <a:latin typeface="Times New Roman"/>
                <a:cs typeface="Times New Roman"/>
              </a:rPr>
              <a:t>Bengaluru Traffic Police (BTP) runs ITMS (Intelligent Traffic Management System), with 250 ANPR (Automatic Number Plate Recognition) and 80 red-light violation cameras at 50 junctions (since Dec 2022).</a:t>
            </a:r>
          </a:p>
          <a:p>
            <a:pPr marL="342900" indent="-342900" algn="l">
              <a:spcAft>
                <a:spcPts val="800"/>
              </a:spcAft>
              <a:buFont typeface="Arial"/>
              <a:buChar char="•"/>
            </a:pPr>
            <a:r>
              <a:rPr sz="1800" b="1" i="0">
                <a:latin typeface="Times New Roman"/>
                <a:cs typeface="Times New Roman"/>
              </a:rPr>
              <a:t>Scale: </a:t>
            </a:r>
            <a:r>
              <a:rPr sz="1800" b="0" i="0">
                <a:latin typeface="Times New Roman"/>
                <a:cs typeface="Times New Roman"/>
              </a:rPr>
              <a:t>In Jan–Jul 2025 about 87% of violations were booked contactless by AI (Artificial Intelligence) cameras, averaging 11,828 automated challans a day vs. 1,586 manual ones.</a:t>
            </a:r>
          </a:p>
          <a:p>
            <a:pPr marL="342900" indent="-342900" algn="l">
              <a:spcAft>
                <a:spcPts val="800"/>
              </a:spcAft>
              <a:buFont typeface="Arial"/>
              <a:buChar char="•"/>
            </a:pPr>
            <a:r>
              <a:rPr sz="1800" b="1" i="0">
                <a:latin typeface="Times New Roman"/>
                <a:cs typeface="Times New Roman"/>
              </a:rPr>
              <a:t>Most common offences: </a:t>
            </a:r>
            <a:r>
              <a:rPr sz="1800" b="0" i="0">
                <a:latin typeface="Times New Roman"/>
                <a:cs typeface="Times New Roman"/>
              </a:rPr>
              <a:t>In Jan–Apr 2025, riding without a helmet (9.8 lakh cases), no seatbelt (2.5 lakh) and signal jumping (2 lakh).</a:t>
            </a:r>
          </a:p>
          <a:p>
            <a:pPr marL="342900" indent="-342900" algn="l">
              <a:spcAft>
                <a:spcPts val="800"/>
              </a:spcAft>
              <a:buFont typeface="Arial"/>
              <a:buChar char="•"/>
            </a:pPr>
            <a:r>
              <a:rPr sz="1800" b="1" i="0">
                <a:latin typeface="Times New Roman"/>
                <a:cs typeface="Times New Roman"/>
              </a:rPr>
              <a:t>This project: </a:t>
            </a:r>
            <a:r>
              <a:rPr sz="1800" b="0" i="0">
                <a:latin typeface="Times New Roman"/>
                <a:cs typeface="Times New Roman"/>
              </a:rPr>
              <a:t>An AI system that detects violations from camera video, reads the number plate, and alerts the offender and the police in near real time.</a:t>
            </a:r>
          </a:p>
        </p:txBody>
      </p:sp>
      <p:pic>
        <p:nvPicPr>
          <p:cNvPr id="2" name="Picture 1">
            <a:extLst>
              <a:ext uri="{FF2B5EF4-FFF2-40B4-BE49-F238E27FC236}">
                <a16:creationId xmlns:a16="http://schemas.microsoft.com/office/drawing/2014/main" id="{D046E4DE-BCE0-C9B2-CDC2-1E28119D86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4256" y="134859"/>
            <a:ext cx="3184992" cy="563562"/>
          </a:xfrm>
          <a:prstGeom prst="rect">
            <a:avLst/>
          </a:prstGeom>
        </p:spPr>
      </p:pic>
      <p:graphicFrame>
        <p:nvGraphicFramePr>
          <p:cNvPr id="8" name="Chart 7"/>
          <p:cNvGraphicFramePr>
            <a:graphicFrameLocks noGrp="1"/>
          </p:cNvGraphicFramePr>
          <p:nvPr/>
        </p:nvGraphicFramePr>
        <p:xfrm>
          <a:off x="7680960" y="1371600"/>
          <a:ext cx="41148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7680960" y="5303520"/>
            <a:ext cx="4114800" cy="548640"/>
          </a:xfrm>
          <a:prstGeom prst="rect">
            <a:avLst/>
          </a:prstGeom>
          <a:noFill/>
        </p:spPr>
        <p:txBody>
          <a:bodyPr wrap="square">
            <a:spAutoFit/>
          </a:bodyPr>
          <a:lstStyle/>
          <a:p>
            <a:r>
              <a:rPr sz="1000" b="0" i="1">
                <a:solidFill>
                  <a:srgbClr val="595959"/>
                </a:solidFill>
                <a:latin typeface="Times New Roman"/>
                <a:cs typeface="Times New Roman"/>
              </a:rPr>
              <a:t>Source: Bengaluru Traffic Police (BTP) data as reported by Deccan Herald, NewsFirst and News Karnataka (2025).</a:t>
            </a:r>
          </a:p>
        </p:txBody>
      </p:sp>
    </p:spTree>
    <p:extLst>
      <p:ext uri="{BB962C8B-B14F-4D97-AF65-F5344CB8AC3E}">
        <p14:creationId xmlns:p14="http://schemas.microsoft.com/office/powerpoint/2010/main" val="3089745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03B4-DE94-29CC-B902-989E208344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E99C9E-6A0E-333F-5A49-29CB3CF69502}"/>
              </a:ext>
            </a:extLst>
          </p:cNvPr>
          <p:cNvSpPr>
            <a:spLocks noGrp="1"/>
          </p:cNvSpPr>
          <p:nvPr>
            <p:ph type="title"/>
          </p:nvPr>
        </p:nvSpPr>
        <p:spPr/>
        <p:txBody>
          <a:bodyPr>
            <a:noAutofit/>
          </a:bodyPr>
          <a:lstStyle/>
          <a:p>
            <a:pPr algn="ctr">
              <a:lnSpc>
                <a:spcPct val="150000"/>
              </a:lnSpc>
            </a:pPr>
            <a:r>
              <a:rPr lang="en-US" sz="3200" b="1" dirty="0">
                <a:latin typeface="Times New Roman" panose="02020603050405020304" pitchFamily="18" charset="0"/>
                <a:cs typeface="Times New Roman" panose="02020603050405020304" pitchFamily="18" charset="0"/>
              </a:rPr>
              <a:t>Review of literature</a:t>
            </a:r>
          </a:p>
        </p:txBody>
      </p:sp>
      <p:graphicFrame>
        <p:nvGraphicFramePr>
          <p:cNvPr id="2" name="Table 1">
            <a:extLst>
              <a:ext uri="{FF2B5EF4-FFF2-40B4-BE49-F238E27FC236}">
                <a16:creationId xmlns:a16="http://schemas.microsoft.com/office/drawing/2014/main" id="{E80844F9-8385-782E-0B9C-345478913A32}"/>
              </a:ext>
            </a:extLst>
          </p:cNvPr>
          <p:cNvGraphicFramePr>
            <a:graphicFrameLocks noGrp="1"/>
          </p:cNvGraphicFramePr>
          <p:nvPr>
            <p:extLst>
              <p:ext uri="{D42A27DB-BD31-4B8C-83A1-F6EECF244321}">
                <p14:modId xmlns:p14="http://schemas.microsoft.com/office/powerpoint/2010/main" val="4179378642"/>
              </p:ext>
            </p:extLst>
          </p:nvPr>
        </p:nvGraphicFramePr>
        <p:xfrm>
          <a:off x="411480" y="1097280"/>
          <a:ext cx="11384280" cy="534924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3476363090"/>
                    </a:ext>
                  </a:extLst>
                </a:gridCol>
                <a:gridCol w="2514600">
                  <a:extLst>
                    <a:ext uri="{9D8B030D-6E8A-4147-A177-3AD203B41FA5}">
                      <a16:colId xmlns:a16="http://schemas.microsoft.com/office/drawing/2014/main" val="3690190586"/>
                    </a:ext>
                  </a:extLst>
                </a:gridCol>
                <a:gridCol w="2834640">
                  <a:extLst>
                    <a:ext uri="{9D8B030D-6E8A-4147-A177-3AD203B41FA5}">
                      <a16:colId xmlns:a16="http://schemas.microsoft.com/office/drawing/2014/main" val="363996245"/>
                    </a:ext>
                  </a:extLst>
                </a:gridCol>
                <a:gridCol w="2057400">
                  <a:extLst>
                    <a:ext uri="{9D8B030D-6E8A-4147-A177-3AD203B41FA5}">
                      <a16:colId xmlns:a16="http://schemas.microsoft.com/office/drawing/2014/main" val="3098826648"/>
                    </a:ext>
                  </a:extLst>
                </a:gridCol>
                <a:gridCol w="1737360">
                  <a:extLst>
                    <a:ext uri="{9D8B030D-6E8A-4147-A177-3AD203B41FA5}">
                      <a16:colId xmlns:a16="http://schemas.microsoft.com/office/drawing/2014/main" val="646655925"/>
                    </a:ext>
                  </a:extLst>
                </a:gridCol>
                <a:gridCol w="1691640">
                  <a:extLst>
                    <a:ext uri="{9D8B030D-6E8A-4147-A177-3AD203B41FA5}">
                      <a16:colId xmlns:a16="http://schemas.microsoft.com/office/drawing/2014/main" val="923233871"/>
                    </a:ext>
                  </a:extLst>
                </a:gridCol>
              </a:tblGrid>
              <a:tr h="548640">
                <a:tc>
                  <a:txBody>
                    <a:bodyPr/>
                    <a:lstStyle/>
                    <a:p>
                      <a:pPr algn="ctr"/>
                      <a:r>
                        <a:rPr sz="1300" b="1" i="0">
                          <a:solidFill>
                            <a:srgbClr val="FFFFFF"/>
                          </a:solidFill>
                          <a:latin typeface="Times New Roman"/>
                          <a:cs typeface="Times New Roman"/>
                        </a:rPr>
                        <a:t>S.No</a:t>
                      </a:r>
                    </a:p>
                  </a:txBody>
                  <a:tcPr marL="54864" marR="54864" marT="36576" marB="36576" anchor="ctr"/>
                </a:tc>
                <a:tc>
                  <a:txBody>
                    <a:bodyPr/>
                    <a:lstStyle/>
                    <a:p>
                      <a:pPr algn="ctr"/>
                      <a:r>
                        <a:rPr sz="1300" b="1" i="0">
                          <a:solidFill>
                            <a:srgbClr val="FFFFFF"/>
                          </a:solidFill>
                          <a:latin typeface="Times New Roman"/>
                          <a:cs typeface="Times New Roman"/>
                        </a:rPr>
                        <a:t>Author Name, Journal, Publication Year</a:t>
                      </a:r>
                    </a:p>
                  </a:txBody>
                  <a:tcPr marL="54864" marR="54864" marT="36576" marB="36576" anchor="ctr"/>
                </a:tc>
                <a:tc>
                  <a:txBody>
                    <a:bodyPr/>
                    <a:lstStyle/>
                    <a:p>
                      <a:pPr algn="ctr"/>
                      <a:r>
                        <a:rPr sz="1300" b="1" i="0">
                          <a:solidFill>
                            <a:srgbClr val="FFFFFF"/>
                          </a:solidFill>
                          <a:latin typeface="Times New Roman"/>
                          <a:cs typeface="Times New Roman"/>
                        </a:rPr>
                        <a:t>Research / Methodology</a:t>
                      </a:r>
                    </a:p>
                  </a:txBody>
                  <a:tcPr marL="54864" marR="54864" marT="36576" marB="36576" anchor="ctr"/>
                </a:tc>
                <a:tc>
                  <a:txBody>
                    <a:bodyPr/>
                    <a:lstStyle/>
                    <a:p>
                      <a:pPr algn="ctr"/>
                      <a:r>
                        <a:rPr sz="1300" b="1" i="0">
                          <a:solidFill>
                            <a:srgbClr val="FFFFFF"/>
                          </a:solidFill>
                          <a:latin typeface="Times New Roman"/>
                          <a:cs typeface="Times New Roman"/>
                        </a:rPr>
                        <a:t>Performance Metrics</a:t>
                      </a:r>
                    </a:p>
                  </a:txBody>
                  <a:tcPr marL="54864" marR="54864" marT="36576" marB="36576" anchor="ctr"/>
                </a:tc>
                <a:tc>
                  <a:txBody>
                    <a:bodyPr/>
                    <a:lstStyle/>
                    <a:p>
                      <a:pPr algn="ctr"/>
                      <a:r>
                        <a:rPr sz="1300" b="1" i="0">
                          <a:solidFill>
                            <a:srgbClr val="FFFFFF"/>
                          </a:solidFill>
                          <a:latin typeface="Times New Roman"/>
                          <a:cs typeface="Times New Roman"/>
                        </a:rPr>
                        <a:t>Advantages</a:t>
                      </a:r>
                    </a:p>
                  </a:txBody>
                  <a:tcPr marL="54864" marR="54864" marT="36576" marB="36576" anchor="ctr"/>
                </a:tc>
                <a:tc>
                  <a:txBody>
                    <a:bodyPr/>
                    <a:lstStyle/>
                    <a:p>
                      <a:pPr algn="ctr"/>
                      <a:r>
                        <a:rPr sz="1300" b="1" i="0">
                          <a:solidFill>
                            <a:srgbClr val="FFFFFF"/>
                          </a:solidFill>
                          <a:latin typeface="Times New Roman"/>
                          <a:cs typeface="Times New Roman"/>
                        </a:rPr>
                        <a:t>Disadvantages</a:t>
                      </a:r>
                    </a:p>
                  </a:txBody>
                  <a:tcPr marL="54864" marR="54864" marT="36576" marB="36576" anchor="ctr"/>
                </a:tc>
                <a:extLst>
                  <a:ext uri="{0D108BD9-81ED-4DB2-BD59-A6C34878D82A}">
                    <a16:rowId xmlns:a16="http://schemas.microsoft.com/office/drawing/2014/main" val="3891171937"/>
                  </a:ext>
                </a:extLst>
              </a:tr>
              <a:tr h="1600200">
                <a:tc>
                  <a:txBody>
                    <a:bodyPr/>
                    <a:lstStyle/>
                    <a:p>
                      <a:pPr algn="ctr"/>
                      <a:r>
                        <a:rPr sz="1200" b="1" i="0">
                          <a:latin typeface="Times New Roman"/>
                          <a:cs typeface="Times New Roman"/>
                        </a:rPr>
                        <a:t>1</a:t>
                      </a:r>
                    </a:p>
                  </a:txBody>
                  <a:tcPr marL="54864" marR="54864" marT="36576" marB="36576"/>
                </a:tc>
                <a:tc>
                  <a:txBody>
                    <a:bodyPr/>
                    <a:lstStyle/>
                    <a:p>
                      <a:pPr algn="l"/>
                      <a:r>
                        <a:rPr sz="1200" b="0" i="0">
                          <a:latin typeface="Times New Roman"/>
                          <a:cs typeface="Times New Roman"/>
                        </a:rPr>
                        <a:t>Goyal A., Agarwal D., Subramanian A., Jawahar C. V., Sarvadevabhatla R. K., Saluja R.</a:t>
                      </a:r>
                    </a:p>
                    <a:p>
                      <a:pPr algn="l"/>
                      <a:r>
                        <a:rPr sz="1200" b="1" i="0">
                          <a:latin typeface="Times New Roman"/>
                          <a:cs typeface="Times New Roman"/>
                        </a:rPr>
                        <a:t>IEEE (Institute of Electrical and Electronics Engineers)/CVF (Computer Vision Foundation) CVPR (Computer Vision and Pattern Recognition) Workshops, 2022</a:t>
                      </a:r>
                    </a:p>
                  </a:txBody>
                  <a:tcPr marL="54864" marR="54864" marT="36576" marB="36576"/>
                </a:tc>
                <a:tc>
                  <a:txBody>
                    <a:bodyPr/>
                    <a:lstStyle/>
                    <a:p>
                      <a:pPr algn="l"/>
                      <a:r>
                        <a:rPr sz="1200" b="0" i="0">
                          <a:latin typeface="Times New Roman"/>
                          <a:cs typeface="Times New Roman"/>
                        </a:rPr>
                        <a:t>Trained a YOLOv4 (You Only Look Once, version 4) model on Indian road images, from easy to hard examples; used slanted boxes to match each rider to the correct motorcycle; guessed the position of partly hidden riders; followed vehicles across dashcam video frames to count them.</a:t>
                      </a:r>
                    </a:p>
                  </a:txBody>
                  <a:tcPr marL="54864" marR="54864" marT="36576" marB="36576"/>
                </a:tc>
                <a:tc>
                  <a:txBody>
                    <a:bodyPr/>
                    <a:lstStyle/>
                    <a:p>
                      <a:pPr algn="l"/>
                      <a:r>
                        <a:rPr sz="1200" b="0" i="0">
                          <a:latin typeface="Times New Roman"/>
                          <a:cs typeface="Times New Roman"/>
                        </a:rPr>
                        <a:t>Triple riding: Precision 84.4%, Recall 73.1%, F1 (combined precision and recall score) 78.3%</a:t>
                      </a:r>
                    </a:p>
                    <a:p>
                      <a:pPr algn="l"/>
                      <a:r>
                        <a:rPr sz="1200" b="0" i="0">
                          <a:latin typeface="Times New Roman"/>
                          <a:cs typeface="Times New Roman"/>
                        </a:rPr>
                        <a:t>Helmet detection: F1 97.1%</a:t>
                      </a:r>
                    </a:p>
                  </a:txBody>
                  <a:tcPr marL="54864" marR="54864" marT="36576" marB="36576"/>
                </a:tc>
                <a:tc>
                  <a:txBody>
                    <a:bodyPr/>
                    <a:lstStyle/>
                    <a:p>
                      <a:pPr algn="l"/>
                      <a:r>
                        <a:rPr sz="1200" b="0" i="0">
                          <a:latin typeface="Times New Roman"/>
                          <a:cs typeface="Times New Roman"/>
                        </a:rPr>
                        <a:t>Works even when riders are partly hidden in dense Indian traffic; detects helmet and triple-riding violations together.</a:t>
                      </a:r>
                    </a:p>
                  </a:txBody>
                  <a:tcPr marL="54864" marR="54864" marT="36576" marB="36576"/>
                </a:tc>
                <a:tc>
                  <a:txBody>
                    <a:bodyPr/>
                    <a:lstStyle/>
                    <a:p>
                      <a:pPr algn="l"/>
                      <a:r>
                        <a:rPr sz="1200" b="0" i="0">
                          <a:latin typeface="Times New Roman"/>
                          <a:cs typeface="Times New Roman"/>
                        </a:rPr>
                        <a:t>Dashcam only; no number-plate reading or e-ticket generation.</a:t>
                      </a:r>
                    </a:p>
                  </a:txBody>
                  <a:tcPr marL="54864" marR="54864" marT="36576" marB="36576"/>
                </a:tc>
                <a:extLst>
                  <a:ext uri="{0D108BD9-81ED-4DB2-BD59-A6C34878D82A}">
                    <a16:rowId xmlns:a16="http://schemas.microsoft.com/office/drawing/2014/main" val="863371691"/>
                  </a:ext>
                </a:extLst>
              </a:tr>
              <a:tr h="1600200">
                <a:tc>
                  <a:txBody>
                    <a:bodyPr/>
                    <a:lstStyle/>
                    <a:p>
                      <a:pPr algn="ctr"/>
                      <a:r>
                        <a:rPr sz="1200" b="1" i="0">
                          <a:latin typeface="Times New Roman"/>
                          <a:cs typeface="Times New Roman"/>
                        </a:rPr>
                        <a:t>2</a:t>
                      </a:r>
                    </a:p>
                  </a:txBody>
                  <a:tcPr marL="54864" marR="54864" marT="36576" marB="36576"/>
                </a:tc>
                <a:tc>
                  <a:txBody>
                    <a:bodyPr/>
                    <a:lstStyle/>
                    <a:p>
                      <a:pPr algn="l"/>
                      <a:r>
                        <a:rPr sz="1200" b="0" i="0">
                          <a:latin typeface="Times New Roman"/>
                          <a:cs typeface="Times New Roman"/>
                        </a:rPr>
                        <a:t>Rawat D., Gupta K., Basu Roy A., Sarvadevabhatla R. K.</a:t>
                      </a:r>
                    </a:p>
                    <a:p>
                      <a:pPr algn="l"/>
                      <a:r>
                        <a:rPr sz="1200" b="1" i="0">
                          <a:latin typeface="Times New Roman"/>
                          <a:cs typeface="Times New Roman"/>
                        </a:rPr>
                        <a:t>IEEE/CVF WACV (Winter Conference on Applications of Computer Vision), 2025</a:t>
                      </a:r>
                    </a:p>
                  </a:txBody>
                  <a:tcPr marL="54864" marR="54864" marT="36576" marB="36576"/>
                </a:tc>
                <a:tc>
                  <a:txBody>
                    <a:bodyPr/>
                    <a:lstStyle/>
                    <a:p>
                      <a:pPr algn="l"/>
                      <a:r>
                        <a:rPr sz="1200" b="0" i="0">
                          <a:latin typeface="Times New Roman"/>
                          <a:cs typeface="Times New Roman"/>
                        </a:rPr>
                        <a:t>DashCop system: outlines each rider and bike in the image and matches them; follows them across frames; YOLOv8 finds the number plate and OCR (Optical Character Recognition) reads it, taking the most common reading; released the RideSafe-400 dataset (400 videos).</a:t>
                      </a:r>
                    </a:p>
                  </a:txBody>
                  <a:tcPr marL="54864" marR="54864" marT="36576" marB="36576"/>
                </a:tc>
                <a:tc>
                  <a:txBody>
                    <a:bodyPr/>
                    <a:lstStyle/>
                    <a:p>
                      <a:pPr algn="l"/>
                      <a:r>
                        <a:rPr sz="1200" b="0" i="0">
                          <a:latin typeface="Times New Roman"/>
                          <a:cs typeface="Times New Roman"/>
                        </a:rPr>
                        <a:t>E-ticket F1: 72.2% (fully automatic), 82.1% (with a human check); plate-reading accuracy 85.7%; rider–bike matching 84.0%</a:t>
                      </a:r>
                    </a:p>
                  </a:txBody>
                  <a:tcPr marL="54864" marR="54864" marT="36576" marB="36576"/>
                </a:tc>
                <a:tc>
                  <a:txBody>
                    <a:bodyPr/>
                    <a:lstStyle/>
                    <a:p>
                      <a:pPr algn="l"/>
                      <a:r>
                        <a:rPr sz="1200" b="0" i="0">
                          <a:latin typeface="Times New Roman"/>
                          <a:cs typeface="Times New Roman"/>
                        </a:rPr>
                        <a:t>Complete flow from detection → plate → e-ticket on Indian roads; public dataset.</a:t>
                      </a:r>
                    </a:p>
                  </a:txBody>
                  <a:tcPr marL="54864" marR="54864" marT="36576" marB="36576"/>
                </a:tc>
                <a:tc>
                  <a:txBody>
                    <a:bodyPr/>
                    <a:lstStyle/>
                    <a:p>
                      <a:pPr algn="l"/>
                      <a:r>
                        <a:rPr sz="1200" b="0" i="0">
                          <a:latin typeface="Times New Roman"/>
                          <a:cs typeface="Times New Roman"/>
                        </a:rPr>
                        <a:t>Only two-wheeler violations; misses many cases (recall 63%); needs powerful hardware.</a:t>
                      </a:r>
                    </a:p>
                  </a:txBody>
                  <a:tcPr marL="54864" marR="54864" marT="36576" marB="36576"/>
                </a:tc>
                <a:extLst>
                  <a:ext uri="{0D108BD9-81ED-4DB2-BD59-A6C34878D82A}">
                    <a16:rowId xmlns:a16="http://schemas.microsoft.com/office/drawing/2014/main" val="1726591487"/>
                  </a:ext>
                </a:extLst>
              </a:tr>
              <a:tr h="1600200">
                <a:tc>
                  <a:txBody>
                    <a:bodyPr/>
                    <a:lstStyle/>
                    <a:p>
                      <a:pPr algn="ctr"/>
                      <a:r>
                        <a:rPr sz="1200" b="1" i="0">
                          <a:latin typeface="Times New Roman"/>
                          <a:cs typeface="Times New Roman"/>
                        </a:rPr>
                        <a:t>3</a:t>
                      </a:r>
                    </a:p>
                  </a:txBody>
                  <a:tcPr marL="54864" marR="54864" marT="36576" marB="36576"/>
                </a:tc>
                <a:tc>
                  <a:txBody>
                    <a:bodyPr/>
                    <a:lstStyle/>
                    <a:p>
                      <a:pPr algn="l"/>
                      <a:r>
                        <a:rPr sz="1200" b="0" i="0">
                          <a:latin typeface="Times New Roman"/>
                          <a:cs typeface="Times New Roman"/>
                        </a:rPr>
                        <a:t>Varma G., Subramanian A., Namboodiri A., Chandraker M., Jawahar C. V.</a:t>
                      </a:r>
                    </a:p>
                    <a:p>
                      <a:pPr algn="l"/>
                      <a:r>
                        <a:rPr sz="1200" b="1" i="0">
                          <a:latin typeface="Times New Roman"/>
                          <a:cs typeface="Times New Roman"/>
                        </a:rPr>
                        <a:t>IEEE WACV, 2019</a:t>
                      </a:r>
                    </a:p>
                  </a:txBody>
                  <a:tcPr marL="54864" marR="54864" marT="36576" marB="36576"/>
                </a:tc>
                <a:tc>
                  <a:txBody>
                    <a:bodyPr/>
                    <a:lstStyle/>
                    <a:p>
                      <a:pPr algn="l"/>
                      <a:r>
                        <a:rPr sz="1200" b="0" i="0">
                          <a:latin typeface="Times New Roman"/>
                          <a:cs typeface="Times New Roman"/>
                        </a:rPr>
                        <a:t>India Driving Dataset (IDD): 10,004 labelled road images with 34 object types, from 182 drives in Bangalore and Hyderabad; used to test how well models understand road scenes.</a:t>
                      </a:r>
                    </a:p>
                  </a:txBody>
                  <a:tcPr marL="54864" marR="54864" marT="36576" marB="36576"/>
                </a:tc>
                <a:tc>
                  <a:txBody>
                    <a:bodyPr/>
                    <a:lstStyle/>
                    <a:p>
                      <a:pPr algn="l"/>
                      <a:r>
                        <a:rPr sz="1200" b="0" i="0">
                          <a:latin typeface="Times New Roman"/>
                          <a:cs typeface="Times New Roman"/>
                        </a:rPr>
                        <a:t>A model trained on US road data scores only 32% mIoU (mean Intersection over Union) on Indian roads.</a:t>
                      </a:r>
                    </a:p>
                  </a:txBody>
                  <a:tcPr marL="54864" marR="54864" marT="36576" marB="36576"/>
                </a:tc>
                <a:tc>
                  <a:txBody>
                    <a:bodyPr/>
                    <a:lstStyle/>
                    <a:p>
                      <a:pPr algn="l"/>
                      <a:r>
                        <a:rPr sz="1200" b="0" i="0">
                          <a:latin typeface="Times New Roman"/>
                          <a:cs typeface="Times New Roman"/>
                        </a:rPr>
                        <a:t>Real Bengaluru road scenes; shows that foreign datasets do not work well on Indian roads.</a:t>
                      </a:r>
                    </a:p>
                  </a:txBody>
                  <a:tcPr marL="54864" marR="54864" marT="36576" marB="36576"/>
                </a:tc>
                <a:tc>
                  <a:txBody>
                    <a:bodyPr/>
                    <a:lstStyle/>
                    <a:p>
                      <a:pPr algn="l"/>
                      <a:r>
                        <a:rPr sz="1200" b="0" i="0">
                          <a:latin typeface="Times New Roman"/>
                          <a:cs typeface="Times New Roman"/>
                        </a:rPr>
                        <a:t>No violation or number-plate labels; images, not video.</a:t>
                      </a:r>
                    </a:p>
                  </a:txBody>
                  <a:tcPr marL="54864" marR="54864" marT="36576" marB="36576"/>
                </a:tc>
                <a:extLst>
                  <a:ext uri="{0D108BD9-81ED-4DB2-BD59-A6C34878D82A}">
                    <a16:rowId xmlns:a16="http://schemas.microsoft.com/office/drawing/2014/main" val="3451593235"/>
                  </a:ext>
                </a:extLst>
              </a:tr>
            </a:tbl>
          </a:graphicData>
        </a:graphic>
      </p:graphicFrame>
      <p:pic>
        <p:nvPicPr>
          <p:cNvPr id="5" name="Picture 4">
            <a:extLst>
              <a:ext uri="{FF2B5EF4-FFF2-40B4-BE49-F238E27FC236}">
                <a16:creationId xmlns:a16="http://schemas.microsoft.com/office/drawing/2014/main" id="{271B53F3-540A-8282-CDE9-91C7F1D75B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6" y="140300"/>
            <a:ext cx="3135306" cy="563562"/>
          </a:xfrm>
          <a:prstGeom prst="rect">
            <a:avLst/>
          </a:prstGeom>
        </p:spPr>
      </p:pic>
    </p:spTree>
    <p:extLst>
      <p:ext uri="{BB962C8B-B14F-4D97-AF65-F5344CB8AC3E}">
        <p14:creationId xmlns:p14="http://schemas.microsoft.com/office/powerpoint/2010/main" val="9525765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03B4-DE94-29CC-B902-989E208344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E99C9E-6A0E-333F-5A49-29CB3CF69502}"/>
              </a:ext>
            </a:extLst>
          </p:cNvPr>
          <p:cNvSpPr>
            <a:spLocks noGrp="1"/>
          </p:cNvSpPr>
          <p:nvPr>
            <p:ph type="title"/>
          </p:nvPr>
        </p:nvSpPr>
        <p:spPr/>
        <p:txBody>
          <a:bodyPr>
            <a:noAutofit/>
          </a:bodyPr>
          <a:lstStyle/>
          <a:p>
            <a:pPr algn="ctr">
              <a:lnSpc>
                <a:spcPct val="150000"/>
              </a:lnSpc>
            </a:pPr>
            <a:r>
              <a:rPr lang="en-US" sz="3200" b="1" dirty="0">
                <a:latin typeface="Times New Roman" panose="02020603050405020304" pitchFamily="18" charset="0"/>
                <a:cs typeface="Times New Roman" panose="02020603050405020304" pitchFamily="18" charset="0"/>
              </a:rPr>
              <a:t>Review of literature (contd.)</a:t>
            </a:r>
          </a:p>
        </p:txBody>
      </p:sp>
      <p:graphicFrame>
        <p:nvGraphicFramePr>
          <p:cNvPr id="2" name="Table 1">
            <a:extLst>
              <a:ext uri="{FF2B5EF4-FFF2-40B4-BE49-F238E27FC236}">
                <a16:creationId xmlns:a16="http://schemas.microsoft.com/office/drawing/2014/main" id="{E80844F9-8385-782E-0B9C-345478913A32}"/>
              </a:ext>
            </a:extLst>
          </p:cNvPr>
          <p:cNvGraphicFramePr>
            <a:graphicFrameLocks noGrp="1"/>
          </p:cNvGraphicFramePr>
          <p:nvPr>
            <p:extLst>
              <p:ext uri="{D42A27DB-BD31-4B8C-83A1-F6EECF244321}">
                <p14:modId xmlns:p14="http://schemas.microsoft.com/office/powerpoint/2010/main" val="4179378642"/>
              </p:ext>
            </p:extLst>
          </p:nvPr>
        </p:nvGraphicFramePr>
        <p:xfrm>
          <a:off x="411480" y="1097280"/>
          <a:ext cx="11384280" cy="534924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3476363090"/>
                    </a:ext>
                  </a:extLst>
                </a:gridCol>
                <a:gridCol w="2514600">
                  <a:extLst>
                    <a:ext uri="{9D8B030D-6E8A-4147-A177-3AD203B41FA5}">
                      <a16:colId xmlns:a16="http://schemas.microsoft.com/office/drawing/2014/main" val="3690190586"/>
                    </a:ext>
                  </a:extLst>
                </a:gridCol>
                <a:gridCol w="2834640">
                  <a:extLst>
                    <a:ext uri="{9D8B030D-6E8A-4147-A177-3AD203B41FA5}">
                      <a16:colId xmlns:a16="http://schemas.microsoft.com/office/drawing/2014/main" val="363996245"/>
                    </a:ext>
                  </a:extLst>
                </a:gridCol>
                <a:gridCol w="2057400">
                  <a:extLst>
                    <a:ext uri="{9D8B030D-6E8A-4147-A177-3AD203B41FA5}">
                      <a16:colId xmlns:a16="http://schemas.microsoft.com/office/drawing/2014/main" val="3098826648"/>
                    </a:ext>
                  </a:extLst>
                </a:gridCol>
                <a:gridCol w="1737360">
                  <a:extLst>
                    <a:ext uri="{9D8B030D-6E8A-4147-A177-3AD203B41FA5}">
                      <a16:colId xmlns:a16="http://schemas.microsoft.com/office/drawing/2014/main" val="646655925"/>
                    </a:ext>
                  </a:extLst>
                </a:gridCol>
                <a:gridCol w="1691640">
                  <a:extLst>
                    <a:ext uri="{9D8B030D-6E8A-4147-A177-3AD203B41FA5}">
                      <a16:colId xmlns:a16="http://schemas.microsoft.com/office/drawing/2014/main" val="923233871"/>
                    </a:ext>
                  </a:extLst>
                </a:gridCol>
              </a:tblGrid>
              <a:tr h="548640">
                <a:tc>
                  <a:txBody>
                    <a:bodyPr/>
                    <a:lstStyle/>
                    <a:p>
                      <a:pPr algn="ctr"/>
                      <a:r>
                        <a:rPr sz="1300" b="1" i="0">
                          <a:solidFill>
                            <a:srgbClr val="FFFFFF"/>
                          </a:solidFill>
                          <a:latin typeface="Times New Roman"/>
                          <a:cs typeface="Times New Roman"/>
                        </a:rPr>
                        <a:t>S.No</a:t>
                      </a:r>
                    </a:p>
                  </a:txBody>
                  <a:tcPr marL="54864" marR="54864" marT="36576" marB="36576" anchor="ctr"/>
                </a:tc>
                <a:tc>
                  <a:txBody>
                    <a:bodyPr/>
                    <a:lstStyle/>
                    <a:p>
                      <a:pPr algn="ctr"/>
                      <a:r>
                        <a:rPr sz="1300" b="1" i="0">
                          <a:solidFill>
                            <a:srgbClr val="FFFFFF"/>
                          </a:solidFill>
                          <a:latin typeface="Times New Roman"/>
                          <a:cs typeface="Times New Roman"/>
                        </a:rPr>
                        <a:t>Author Name, Journal, Publication Year</a:t>
                      </a:r>
                    </a:p>
                  </a:txBody>
                  <a:tcPr marL="54864" marR="54864" marT="36576" marB="36576" anchor="ctr"/>
                </a:tc>
                <a:tc>
                  <a:txBody>
                    <a:bodyPr/>
                    <a:lstStyle/>
                    <a:p>
                      <a:pPr algn="ctr"/>
                      <a:r>
                        <a:rPr sz="1300" b="1" i="0">
                          <a:solidFill>
                            <a:srgbClr val="FFFFFF"/>
                          </a:solidFill>
                          <a:latin typeface="Times New Roman"/>
                          <a:cs typeface="Times New Roman"/>
                        </a:rPr>
                        <a:t>Research / Methodology</a:t>
                      </a:r>
                    </a:p>
                  </a:txBody>
                  <a:tcPr marL="54864" marR="54864" marT="36576" marB="36576" anchor="ctr"/>
                </a:tc>
                <a:tc>
                  <a:txBody>
                    <a:bodyPr/>
                    <a:lstStyle/>
                    <a:p>
                      <a:pPr algn="ctr"/>
                      <a:r>
                        <a:rPr sz="1300" b="1" i="0">
                          <a:solidFill>
                            <a:srgbClr val="FFFFFF"/>
                          </a:solidFill>
                          <a:latin typeface="Times New Roman"/>
                          <a:cs typeface="Times New Roman"/>
                        </a:rPr>
                        <a:t>Performance Metrics</a:t>
                      </a:r>
                    </a:p>
                  </a:txBody>
                  <a:tcPr marL="54864" marR="54864" marT="36576" marB="36576" anchor="ctr"/>
                </a:tc>
                <a:tc>
                  <a:txBody>
                    <a:bodyPr/>
                    <a:lstStyle/>
                    <a:p>
                      <a:pPr algn="ctr"/>
                      <a:r>
                        <a:rPr sz="1300" b="1" i="0">
                          <a:solidFill>
                            <a:srgbClr val="FFFFFF"/>
                          </a:solidFill>
                          <a:latin typeface="Times New Roman"/>
                          <a:cs typeface="Times New Roman"/>
                        </a:rPr>
                        <a:t>Advantages</a:t>
                      </a:r>
                    </a:p>
                  </a:txBody>
                  <a:tcPr marL="54864" marR="54864" marT="36576" marB="36576" anchor="ctr"/>
                </a:tc>
                <a:tc>
                  <a:txBody>
                    <a:bodyPr/>
                    <a:lstStyle/>
                    <a:p>
                      <a:pPr algn="ctr"/>
                      <a:r>
                        <a:rPr sz="1300" b="1" i="0">
                          <a:solidFill>
                            <a:srgbClr val="FFFFFF"/>
                          </a:solidFill>
                          <a:latin typeface="Times New Roman"/>
                          <a:cs typeface="Times New Roman"/>
                        </a:rPr>
                        <a:t>Disadvantages</a:t>
                      </a:r>
                    </a:p>
                  </a:txBody>
                  <a:tcPr marL="54864" marR="54864" marT="36576" marB="36576" anchor="ctr"/>
                </a:tc>
                <a:extLst>
                  <a:ext uri="{0D108BD9-81ED-4DB2-BD59-A6C34878D82A}">
                    <a16:rowId xmlns:a16="http://schemas.microsoft.com/office/drawing/2014/main" val="3891171937"/>
                  </a:ext>
                </a:extLst>
              </a:tr>
              <a:tr h="1600200">
                <a:tc>
                  <a:txBody>
                    <a:bodyPr/>
                    <a:lstStyle/>
                    <a:p>
                      <a:pPr algn="ctr"/>
                      <a:r>
                        <a:rPr sz="1200" b="1" i="0">
                          <a:latin typeface="Times New Roman"/>
                          <a:cs typeface="Times New Roman"/>
                        </a:rPr>
                        <a:t>4</a:t>
                      </a:r>
                    </a:p>
                  </a:txBody>
                  <a:tcPr marL="54864" marR="54864" marT="36576" marB="36576"/>
                </a:tc>
                <a:tc>
                  <a:txBody>
                    <a:bodyPr/>
                    <a:lstStyle/>
                    <a:p>
                      <a:pPr algn="l"/>
                      <a:r>
                        <a:rPr sz="1200" b="0" i="0">
                          <a:latin typeface="Times New Roman"/>
                          <a:cs typeface="Times New Roman"/>
                        </a:rPr>
                        <a:t>Laroca R., Severo E., Zanlorensi L. A., Oliveira L. S., Gonçalves G. R., Schwartz W. R., Menotti D.</a:t>
                      </a:r>
                    </a:p>
                    <a:p>
                      <a:pPr algn="l"/>
                      <a:r>
                        <a:rPr sz="1200" b="1" i="0">
                          <a:latin typeface="Times New Roman"/>
                          <a:cs typeface="Times New Roman"/>
                        </a:rPr>
                        <a:t>IEEE (Institute of Electrical and Electronics Engineers) IJCNN (International Joint Conference on Neural Networks), 2018</a:t>
                      </a:r>
                    </a:p>
                  </a:txBody>
                  <a:tcPr marL="54864" marR="54864" marT="36576" marB="36576"/>
                </a:tc>
                <a:tc>
                  <a:txBody>
                    <a:bodyPr/>
                    <a:lstStyle/>
                    <a:p>
                      <a:pPr algn="l"/>
                      <a:r>
                        <a:rPr sz="1200" b="0" i="0">
                          <a:latin typeface="Times New Roman"/>
                          <a:cs typeface="Times New Roman"/>
                        </a:rPr>
                        <a:t>YOLO-based number-plate reader that works in steps: find vehicle → find plate → split characters → read characters; extra training images made by flipping and inverting plates.</a:t>
                      </a:r>
                    </a:p>
                  </a:txBody>
                  <a:tcPr marL="54864" marR="54864" marT="36576" marB="36576"/>
                </a:tc>
                <a:tc>
                  <a:txBody>
                    <a:bodyPr/>
                    <a:lstStyle/>
                    <a:p>
                      <a:pPr algn="l"/>
                      <a:r>
                        <a:rPr sz="1200" b="0" i="0">
                          <a:latin typeface="Times New Roman"/>
                          <a:cs typeface="Times New Roman"/>
                        </a:rPr>
                        <a:t>93.53% accuracy at 47 FPS (Frames Per Second) on one Brazilian dataset; 78.33% at 35 FPS on a harder one</a:t>
                      </a:r>
                    </a:p>
                  </a:txBody>
                  <a:tcPr marL="54864" marR="54864" marT="36576" marB="36576"/>
                </a:tc>
                <a:tc>
                  <a:txBody>
                    <a:bodyPr/>
                    <a:lstStyle/>
                    <a:p>
                      <a:pPr algn="l"/>
                      <a:r>
                        <a:rPr sz="1200" b="0" i="0">
                          <a:latin typeface="Times New Roman"/>
                          <a:cs typeface="Times New Roman"/>
                        </a:rPr>
                        <a:t>Works in real time; better than commercial systems (Sighthound, OpenALPR).</a:t>
                      </a:r>
                    </a:p>
                  </a:txBody>
                  <a:tcPr marL="54864" marR="54864" marT="36576" marB="36576"/>
                </a:tc>
                <a:tc>
                  <a:txBody>
                    <a:bodyPr/>
                    <a:lstStyle/>
                    <a:p>
                      <a:pPr algn="l"/>
                      <a:r>
                        <a:rPr sz="1200" b="0" i="0">
                          <a:latin typeface="Times New Roman"/>
                          <a:cs typeface="Times New Roman"/>
                        </a:rPr>
                        <a:t>Trained on Brazilian plates; needs changes for Indian two-line and non-standard plates.</a:t>
                      </a:r>
                    </a:p>
                  </a:txBody>
                  <a:tcPr marL="54864" marR="54864" marT="36576" marB="36576"/>
                </a:tc>
                <a:extLst>
                  <a:ext uri="{0D108BD9-81ED-4DB2-BD59-A6C34878D82A}">
                    <a16:rowId xmlns:a16="http://schemas.microsoft.com/office/drawing/2014/main" val="863371691"/>
                  </a:ext>
                </a:extLst>
              </a:tr>
              <a:tr h="1600200">
                <a:tc>
                  <a:txBody>
                    <a:bodyPr/>
                    <a:lstStyle/>
                    <a:p>
                      <a:pPr algn="ctr"/>
                      <a:r>
                        <a:rPr sz="1200" b="1" i="0">
                          <a:latin typeface="Times New Roman"/>
                          <a:cs typeface="Times New Roman"/>
                        </a:rPr>
                        <a:t>5</a:t>
                      </a:r>
                    </a:p>
                  </a:txBody>
                  <a:tcPr marL="54864" marR="54864" marT="36576" marB="36576"/>
                </a:tc>
                <a:tc>
                  <a:txBody>
                    <a:bodyPr/>
                    <a:lstStyle/>
                    <a:p>
                      <a:pPr algn="l"/>
                      <a:r>
                        <a:rPr sz="1200" b="0" i="0">
                          <a:latin typeface="Times New Roman"/>
                          <a:cs typeface="Times New Roman"/>
                        </a:rPr>
                        <a:t>Soltanikazemi E., Dhakal A., Hatuwal B. K., Toubal I. E., Aboah A., Palaniappan K.</a:t>
                      </a:r>
                    </a:p>
                    <a:p>
                      <a:pPr algn="l"/>
                      <a:r>
                        <a:rPr sz="1200" b="1" i="0">
                          <a:latin typeface="Times New Roman"/>
                          <a:cs typeface="Times New Roman"/>
                        </a:rPr>
                        <a:t>IEEE AIPR (Applied Imagery Pattern Recognition) Workshop, 2023</a:t>
                      </a:r>
                    </a:p>
                  </a:txBody>
                  <a:tcPr marL="54864" marR="54864" marT="36576" marB="36576"/>
                </a:tc>
                <a:tc>
                  <a:txBody>
                    <a:bodyPr/>
                    <a:lstStyle/>
                    <a:p>
                      <a:pPr algn="l"/>
                      <a:r>
                        <a:rPr sz="1200" b="0" i="0">
                          <a:latin typeface="Times New Roman"/>
                          <a:cs typeface="Times New Roman"/>
                        </a:rPr>
                        <a:t>YOLOv5 (You Only Look Once, version 5) model whose settings were automatically tuned by trial-and-improve search; extra training images; 7 classes that separate driver and passenger helmets.</a:t>
                      </a:r>
                    </a:p>
                  </a:txBody>
                  <a:tcPr marL="54864" marR="54864" marT="36576" marB="36576"/>
                </a:tc>
                <a:tc>
                  <a:txBody>
                    <a:bodyPr/>
                    <a:lstStyle/>
                    <a:p>
                      <a:pPr algn="l"/>
                      <a:r>
                        <a:rPr sz="1200" b="0" i="0">
                          <a:latin typeface="Times New Roman"/>
                          <a:cs typeface="Times New Roman"/>
                        </a:rPr>
                        <a:t>Training: Precision 0.848, Recall 0.599, mAP (mean Average Precision) 0.641</a:t>
                      </a:r>
                    </a:p>
                    <a:p>
                      <a:pPr algn="l"/>
                      <a:r>
                        <a:rPr sz="1200" b="0" i="0">
                          <a:latin typeface="Times New Roman"/>
                          <a:cs typeface="Times New Roman"/>
                        </a:rPr>
                        <a:t>Test mAP 0.667 (4th place in AI City 2023 helmet challenge)</a:t>
                      </a:r>
                    </a:p>
                  </a:txBody>
                  <a:tcPr marL="54864" marR="54864" marT="36576" marB="36576"/>
                </a:tc>
                <a:tc>
                  <a:txBody>
                    <a:bodyPr/>
                    <a:lstStyle/>
                    <a:p>
                      <a:pPr algn="l"/>
                      <a:r>
                        <a:rPr sz="1200" b="0" i="0">
                          <a:latin typeface="Times New Roman"/>
                          <a:cs typeface="Times New Roman"/>
                        </a:rPr>
                        <a:t>Works in real time; checks rider and pillion separately.</a:t>
                      </a:r>
                    </a:p>
                  </a:txBody>
                  <a:tcPr marL="54864" marR="54864" marT="36576" marB="36576"/>
                </a:tc>
                <a:tc>
                  <a:txBody>
                    <a:bodyPr/>
                    <a:lstStyle/>
                    <a:p>
                      <a:pPr algn="l"/>
                      <a:r>
                        <a:rPr sz="1200" b="0" i="0">
                          <a:latin typeface="Times New Roman"/>
                          <a:cs typeface="Times New Roman"/>
                        </a:rPr>
                        <a:t>Misses many cases (low recall); helmet only; no tracking or plate reading.</a:t>
                      </a:r>
                    </a:p>
                  </a:txBody>
                  <a:tcPr marL="54864" marR="54864" marT="36576" marB="36576"/>
                </a:tc>
                <a:extLst>
                  <a:ext uri="{0D108BD9-81ED-4DB2-BD59-A6C34878D82A}">
                    <a16:rowId xmlns:a16="http://schemas.microsoft.com/office/drawing/2014/main" val="1726591487"/>
                  </a:ext>
                </a:extLst>
              </a:tr>
              <a:tr h="1600200">
                <a:tc>
                  <a:txBody>
                    <a:bodyPr/>
                    <a:lstStyle/>
                    <a:p>
                      <a:pPr algn="ctr"/>
                      <a:r>
                        <a:rPr sz="1200" b="1" i="0">
                          <a:latin typeface="Times New Roman"/>
                          <a:cs typeface="Times New Roman"/>
                        </a:rPr>
                        <a:t>6</a:t>
                      </a:r>
                    </a:p>
                  </a:txBody>
                  <a:tcPr marL="54864" marR="54864" marT="36576" marB="36576"/>
                </a:tc>
                <a:tc>
                  <a:txBody>
                    <a:bodyPr/>
                    <a:lstStyle/>
                    <a:p>
                      <a:pPr algn="l"/>
                      <a:r>
                        <a:rPr sz="1200" b="0" i="0">
                          <a:latin typeface="Times New Roman"/>
                          <a:cs typeface="Times New Roman"/>
                        </a:rPr>
                        <a:t>Naphade M. et al.</a:t>
                      </a:r>
                    </a:p>
                    <a:p>
                      <a:pPr algn="l"/>
                      <a:r>
                        <a:rPr sz="1200" b="1" i="0">
                          <a:latin typeface="Times New Roman"/>
                          <a:cs typeface="Times New Roman"/>
                        </a:rPr>
                        <a:t>IEEE/CVF (Computer Vision Foundation) CVPR (Computer Vision and Pattern Recognition) Workshops, 2023</a:t>
                      </a:r>
                    </a:p>
                  </a:txBody>
                  <a:tcPr marL="54864" marR="54864" marT="36576" marB="36576"/>
                </a:tc>
                <a:tc>
                  <a:txBody>
                    <a:bodyPr/>
                    <a:lstStyle/>
                    <a:p>
                      <a:pPr algn="l"/>
                      <a:r>
                        <a:rPr sz="1200" b="0" i="0">
                          <a:latin typeface="Times New Roman"/>
                          <a:cs typeface="Times New Roman"/>
                        </a:rPr>
                        <a:t>7th AI City Challenge; Track 5 is a helmet-violation contest using traffic-camera video from an Indian city in Full HD (High Definition) at 10 FPS, with 100 training + 100 test videos.</a:t>
                      </a:r>
                    </a:p>
                  </a:txBody>
                  <a:tcPr marL="54864" marR="54864" marT="36576" marB="36576"/>
                </a:tc>
                <a:tc>
                  <a:txBody>
                    <a:bodyPr/>
                    <a:lstStyle/>
                    <a:p>
                      <a:pPr algn="l"/>
                      <a:r>
                        <a:rPr sz="1200" b="0" i="0">
                          <a:latin typeface="Times New Roman"/>
                          <a:cs typeface="Times New Roman"/>
                        </a:rPr>
                        <a:t>Score: mAP; best team 0.834; 508 teams from 46 countries took part</a:t>
                      </a:r>
                    </a:p>
                  </a:txBody>
                  <a:tcPr marL="54864" marR="54864" marT="36576" marB="36576"/>
                </a:tc>
                <a:tc>
                  <a:txBody>
                    <a:bodyPr/>
                    <a:lstStyle/>
                    <a:p>
                      <a:pPr algn="l"/>
                      <a:r>
                        <a:rPr sz="1200" b="0" i="0">
                          <a:latin typeface="Times New Roman"/>
                          <a:cs typeface="Times New Roman"/>
                        </a:rPr>
                        <a:t>Common dataset and scoring on Indian traffic, so methods can be compared fairly.</a:t>
                      </a:r>
                    </a:p>
                  </a:txBody>
                  <a:tcPr marL="54864" marR="54864" marT="36576" marB="36576"/>
                </a:tc>
                <a:tc>
                  <a:txBody>
                    <a:bodyPr/>
                    <a:lstStyle/>
                    <a:p>
                      <a:pPr algn="l"/>
                      <a:r>
                        <a:rPr sz="1200" b="0" i="0">
                          <a:latin typeface="Times New Roman"/>
                          <a:cs typeface="Times New Roman"/>
                        </a:rPr>
                        <a:t>Helmet violations only; plates and faces hidden, so no plate reading.</a:t>
                      </a:r>
                    </a:p>
                  </a:txBody>
                  <a:tcPr marL="54864" marR="54864" marT="36576" marB="36576"/>
                </a:tc>
                <a:extLst>
                  <a:ext uri="{0D108BD9-81ED-4DB2-BD59-A6C34878D82A}">
                    <a16:rowId xmlns:a16="http://schemas.microsoft.com/office/drawing/2014/main" val="3451593235"/>
                  </a:ext>
                </a:extLst>
              </a:tr>
            </a:tbl>
          </a:graphicData>
        </a:graphic>
      </p:graphicFrame>
      <p:pic>
        <p:nvPicPr>
          <p:cNvPr id="5" name="Picture 4">
            <a:extLst>
              <a:ext uri="{FF2B5EF4-FFF2-40B4-BE49-F238E27FC236}">
                <a16:creationId xmlns:a16="http://schemas.microsoft.com/office/drawing/2014/main" id="{271B53F3-540A-8282-CDE9-91C7F1D75B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6" y="140300"/>
            <a:ext cx="3135306" cy="563562"/>
          </a:xfrm>
          <a:prstGeom prst="rect">
            <a:avLst/>
          </a:prstGeom>
        </p:spPr>
      </p:pic>
    </p:spTree>
    <p:extLst>
      <p:ext uri="{BB962C8B-B14F-4D97-AF65-F5344CB8AC3E}">
        <p14:creationId xmlns:p14="http://schemas.microsoft.com/office/powerpoint/2010/main" val="9525765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0046-BF80-C7AC-4092-5F6B766C4B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006D7-2A1D-A4B2-63D6-92A249697848}"/>
              </a:ext>
            </a:extLst>
          </p:cNvPr>
          <p:cNvSpPr>
            <a:spLocks noGrp="1"/>
          </p:cNvSpPr>
          <p:nvPr>
            <p:ph idx="1"/>
          </p:nvPr>
        </p:nvSpPr>
        <p:spPr>
          <a:xfrm>
            <a:off x="609600" y="1159263"/>
            <a:ext cx="11173961" cy="5400599"/>
          </a:xfrm>
        </p:spPr>
        <p:txBody>
          <a:bodyPr vert="horz" lIns="91440" tIns="45720" rIns="91440" bIns="45720" rtlCol="0" anchor="t">
            <a:normAutofit/>
          </a:bodyPr>
          <a:lstStyle/>
          <a:p>
            <a:pPr marL="457200" indent="-457200" algn="l">
              <a:spcAft>
                <a:spcPts val="800"/>
              </a:spcAft>
              <a:buNone/>
            </a:pPr>
            <a:r>
              <a:rPr sz="1800" b="1" i="0">
                <a:latin typeface="Times New Roman"/>
                <a:cs typeface="Times New Roman"/>
              </a:rPr>
              <a:t>1.	</a:t>
            </a:r>
            <a:r>
              <a:rPr sz="1800" b="0" i="0">
                <a:latin typeface="Times New Roman"/>
                <a:cs typeface="Times New Roman"/>
              </a:rPr>
              <a:t>Fast one-pass detectors such as YOLO (You Only Look Once) are the standard choice; they are quick enough for live video and accurate for riders, helmets and plates [1][2][4][5].</a:t>
            </a:r>
          </a:p>
          <a:p>
            <a:pPr marL="457200" indent="-457200" algn="l">
              <a:spcAft>
                <a:spcPts val="800"/>
              </a:spcAft>
              <a:buNone/>
            </a:pPr>
            <a:r>
              <a:rPr sz="1800" b="1" i="0">
                <a:latin typeface="Times New Roman"/>
                <a:cs typeface="Times New Roman"/>
              </a:rPr>
              <a:t>2.	</a:t>
            </a:r>
            <a:r>
              <a:rPr sz="1800" b="0" i="0">
                <a:latin typeface="Times New Roman"/>
                <a:cs typeface="Times New Roman"/>
              </a:rPr>
              <a:t>Matching each rider to the correct motorcycle is the key step for triple-riding detection; better matching methods clearly improve results [1][2].</a:t>
            </a:r>
          </a:p>
          <a:p>
            <a:pPr marL="457200" indent="-457200" algn="l">
              <a:spcAft>
                <a:spcPts val="800"/>
              </a:spcAft>
              <a:buNone/>
            </a:pPr>
            <a:r>
              <a:rPr sz="1800" b="1" i="0">
                <a:latin typeface="Times New Roman"/>
                <a:cs typeface="Times New Roman"/>
              </a:rPr>
              <a:t>3.	</a:t>
            </a:r>
            <a:r>
              <a:rPr sz="1800" b="0" i="0">
                <a:latin typeface="Times New Roman"/>
                <a:cs typeface="Times New Roman"/>
              </a:rPr>
              <a:t>Following each vehicle across video frames (tracking) avoids counting the same violation twice and makes decisions more reliable [1][2].</a:t>
            </a:r>
          </a:p>
          <a:p>
            <a:pPr marL="457200" indent="-457200" algn="l">
              <a:spcAft>
                <a:spcPts val="800"/>
              </a:spcAft>
              <a:buNone/>
            </a:pPr>
            <a:r>
              <a:rPr sz="1800" b="1" i="0">
                <a:latin typeface="Times New Roman"/>
                <a:cs typeface="Times New Roman"/>
              </a:rPr>
              <a:t>4.	</a:t>
            </a:r>
            <a:r>
              <a:rPr sz="1800" b="0" i="0">
                <a:latin typeface="Times New Roman"/>
                <a:cs typeface="Times New Roman"/>
              </a:rPr>
              <a:t>Models trained on foreign road data perform poorly on Indian roads; Indian datasets such as IDD (India Driving Dataset), RideSafe-400 and AI City Track 5 are essential [2][3][6].</a:t>
            </a:r>
          </a:p>
          <a:p>
            <a:pPr marL="457200" indent="-457200" algn="l">
              <a:spcAft>
                <a:spcPts val="800"/>
              </a:spcAft>
              <a:buNone/>
            </a:pPr>
            <a:r>
              <a:rPr sz="1800" b="1" i="0">
                <a:latin typeface="Times New Roman"/>
                <a:cs typeface="Times New Roman"/>
              </a:rPr>
              <a:t>5.	</a:t>
            </a:r>
            <a:r>
              <a:rPr sz="1800" b="0" i="0">
                <a:latin typeface="Times New Roman"/>
                <a:cs typeface="Times New Roman"/>
              </a:rPr>
              <a:t>Number-plate reading works best in steps (first find the plate, then read it) and by combining readings from several frames [2][4].</a:t>
            </a:r>
          </a:p>
          <a:p>
            <a:pPr marL="457200" indent="-457200" algn="l">
              <a:spcAft>
                <a:spcPts val="800"/>
              </a:spcAft>
              <a:buNone/>
            </a:pPr>
            <a:r>
              <a:rPr sz="1800" b="1" i="0">
                <a:latin typeface="Times New Roman"/>
                <a:cs typeface="Times New Roman"/>
              </a:rPr>
              <a:t>6.	</a:t>
            </a:r>
            <a:r>
              <a:rPr sz="1800" b="0" i="0">
                <a:latin typeface="Times New Roman"/>
                <a:cs typeface="Times New Roman"/>
              </a:rPr>
              <a:t>Having a person check each case before an e-ticket is issued raised precision to 100% in DashCop, which matters for legal use [2].</a:t>
            </a:r>
          </a:p>
        </p:txBody>
      </p:sp>
      <p:sp>
        <p:nvSpPr>
          <p:cNvPr id="3" name="Title 2">
            <a:extLst>
              <a:ext uri="{FF2B5EF4-FFF2-40B4-BE49-F238E27FC236}">
                <a16:creationId xmlns:a16="http://schemas.microsoft.com/office/drawing/2014/main" id="{39A6E23D-A5D8-BE38-914C-4697198F055E}"/>
              </a:ext>
            </a:extLst>
          </p:cNvPr>
          <p:cNvSpPr>
            <a:spLocks noGrp="1"/>
          </p:cNvSpPr>
          <p:nvPr>
            <p:ph type="title"/>
          </p:nvPr>
        </p:nvSpPr>
        <p:spPr>
          <a:xfrm>
            <a:off x="609600" y="228600"/>
            <a:ext cx="7440118"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Observations from the Literature Review</a:t>
            </a:r>
          </a:p>
        </p:txBody>
      </p:sp>
      <p:pic>
        <p:nvPicPr>
          <p:cNvPr id="5" name="Picture 4">
            <a:extLst>
              <a:ext uri="{FF2B5EF4-FFF2-40B4-BE49-F238E27FC236}">
                <a16:creationId xmlns:a16="http://schemas.microsoft.com/office/drawing/2014/main" id="{47D2E993-E474-0C27-DF8A-10B6A433EC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3999" y="228601"/>
            <a:ext cx="2639561" cy="563562"/>
          </a:xfrm>
          <a:prstGeom prst="rect">
            <a:avLst/>
          </a:prstGeom>
        </p:spPr>
      </p:pic>
    </p:spTree>
    <p:extLst>
      <p:ext uri="{BB962C8B-B14F-4D97-AF65-F5344CB8AC3E}">
        <p14:creationId xmlns:p14="http://schemas.microsoft.com/office/powerpoint/2010/main" val="269480186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28F11-9544-18C8-69F6-B6B1393AAE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EF3ED1-1B2C-DD44-A421-B9D1C2BCEA8F}"/>
              </a:ext>
            </a:extLst>
          </p:cNvPr>
          <p:cNvSpPr>
            <a:spLocks noGrp="1"/>
          </p:cNvSpPr>
          <p:nvPr>
            <p:ph idx="1"/>
          </p:nvPr>
        </p:nvSpPr>
        <p:spPr>
          <a:xfrm>
            <a:off x="609600" y="1118997"/>
            <a:ext cx="11171583" cy="5400599"/>
          </a:xfrm>
        </p:spPr>
        <p:txBody>
          <a:bodyPr vert="horz" lIns="91440" tIns="45720" rIns="91440" bIns="45720" rtlCol="0" anchor="t">
            <a:normAutofit/>
          </a:bodyPr>
          <a:lstStyle/>
          <a:p>
            <a:pPr marL="457200" indent="-457200" algn="l">
              <a:spcAft>
                <a:spcPts val="800"/>
              </a:spcAft>
              <a:buNone/>
            </a:pPr>
            <a:r>
              <a:rPr sz="1800" b="1" i="0">
                <a:latin typeface="Times New Roman"/>
                <a:cs typeface="Times New Roman"/>
              </a:rPr>
              <a:t>1.	</a:t>
            </a:r>
            <a:r>
              <a:rPr sz="1800" b="0" i="0">
                <a:latin typeface="Times New Roman"/>
                <a:cs typeface="Times New Roman"/>
              </a:rPr>
              <a:t>Most works target one or two violation types (usually helmet and triple riding); red-light, wrong-way, seatbelt and phone use are rarely handled in one system.</a:t>
            </a:r>
          </a:p>
          <a:p>
            <a:pPr marL="457200" indent="-457200" algn="l">
              <a:spcAft>
                <a:spcPts val="800"/>
              </a:spcAft>
              <a:buNone/>
            </a:pPr>
            <a:r>
              <a:rPr sz="1800" b="1" i="0">
                <a:latin typeface="Times New Roman"/>
                <a:cs typeface="Times New Roman"/>
              </a:rPr>
              <a:t>2.	</a:t>
            </a:r>
            <a:r>
              <a:rPr sz="1800" b="0" i="0">
                <a:latin typeface="Times New Roman"/>
                <a:cs typeface="Times New Roman"/>
              </a:rPr>
              <a:t>Several systems stop at detection; few read the number plate and fewer generate alerts or e-challans [1][3][5][6].</a:t>
            </a:r>
          </a:p>
          <a:p>
            <a:pPr marL="457200" indent="-457200" algn="l">
              <a:spcAft>
                <a:spcPts val="800"/>
              </a:spcAft>
              <a:buNone/>
            </a:pPr>
            <a:r>
              <a:rPr sz="1800" b="1" i="0">
                <a:latin typeface="Times New Roman"/>
                <a:cs typeface="Times New Roman"/>
              </a:rPr>
              <a:t>3.	</a:t>
            </a:r>
            <a:r>
              <a:rPr sz="1800" b="0" i="0">
                <a:latin typeface="Times New Roman"/>
                <a:cs typeface="Times New Roman"/>
              </a:rPr>
              <a:t>Many violations are still missed (only about 60–73% are caught) in crowded traffic where vehicles hide each other [1][2][5].</a:t>
            </a:r>
          </a:p>
          <a:p>
            <a:pPr marL="457200" indent="-457200" algn="l">
              <a:spcAft>
                <a:spcPts val="800"/>
              </a:spcAft>
              <a:buNone/>
            </a:pPr>
            <a:r>
              <a:rPr sz="1800" b="1" i="0">
                <a:latin typeface="Times New Roman"/>
                <a:cs typeface="Times New Roman"/>
              </a:rPr>
              <a:t>4.	</a:t>
            </a:r>
            <a:r>
              <a:rPr sz="1800" b="0" i="0">
                <a:latin typeface="Times New Roman"/>
                <a:cs typeface="Times New Roman"/>
              </a:rPr>
              <a:t>Plate readers are trained on foreign or computer-generated plates; Indian two-line, damaged and non-standard plates reduce accuracy [2][4].</a:t>
            </a:r>
          </a:p>
          <a:p>
            <a:pPr marL="457200" indent="-457200" algn="l">
              <a:spcAft>
                <a:spcPts val="800"/>
              </a:spcAft>
              <a:buNone/>
            </a:pPr>
            <a:r>
              <a:rPr sz="1800" b="1" i="0">
                <a:latin typeface="Times New Roman"/>
                <a:cs typeface="Times New Roman"/>
              </a:rPr>
              <a:t>5.	</a:t>
            </a:r>
            <a:r>
              <a:rPr sz="1800" b="0" i="0">
                <a:latin typeface="Times New Roman"/>
                <a:cs typeface="Times New Roman"/>
              </a:rPr>
              <a:t>Night, rain and glare conditions, and running on small low-cost devices, are seldom tested.</a:t>
            </a:r>
          </a:p>
          <a:p>
            <a:pPr marL="457200" indent="-457200" algn="l">
              <a:spcAft>
                <a:spcPts val="800"/>
              </a:spcAft>
              <a:buNone/>
            </a:pPr>
            <a:r>
              <a:rPr sz="1800" b="1" i="0">
                <a:latin typeface="Times New Roman"/>
                <a:cs typeface="Times New Roman"/>
              </a:rPr>
              <a:t>6.	</a:t>
            </a:r>
            <a:r>
              <a:rPr sz="1800" b="0" i="0">
                <a:latin typeface="Times New Roman"/>
                <a:cs typeface="Times New Roman"/>
              </a:rPr>
              <a:t>Fixed junction cameras such as ITMS (Intelligent Traffic Management System) and dashcam systems are studied separately; they are not combined.</a:t>
            </a:r>
          </a:p>
        </p:txBody>
      </p:sp>
      <p:sp>
        <p:nvSpPr>
          <p:cNvPr id="3" name="Title 2">
            <a:extLst>
              <a:ext uri="{FF2B5EF4-FFF2-40B4-BE49-F238E27FC236}">
                <a16:creationId xmlns:a16="http://schemas.microsoft.com/office/drawing/2014/main" id="{BBD3710E-1FD6-A145-E602-76470D00842A}"/>
              </a:ext>
            </a:extLst>
          </p:cNvPr>
          <p:cNvSpPr>
            <a:spLocks noGrp="1"/>
          </p:cNvSpPr>
          <p:nvPr>
            <p:ph type="title"/>
          </p:nvPr>
        </p:nvSpPr>
        <p:spPr>
          <a:xfrm>
            <a:off x="609600" y="228600"/>
            <a:ext cx="7140315"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Limitations from the Literature Review</a:t>
            </a:r>
          </a:p>
        </p:txBody>
      </p:sp>
      <p:pic>
        <p:nvPicPr>
          <p:cNvPr id="5" name="Picture 4">
            <a:extLst>
              <a:ext uri="{FF2B5EF4-FFF2-40B4-BE49-F238E27FC236}">
                <a16:creationId xmlns:a16="http://schemas.microsoft.com/office/drawing/2014/main" id="{24488C9D-2D30-3125-69F0-8049573055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6" y="300192"/>
            <a:ext cx="2783174" cy="491970"/>
          </a:xfrm>
          <a:prstGeom prst="rect">
            <a:avLst/>
          </a:prstGeom>
        </p:spPr>
      </p:pic>
    </p:spTree>
    <p:extLst>
      <p:ext uri="{BB962C8B-B14F-4D97-AF65-F5344CB8AC3E}">
        <p14:creationId xmlns:p14="http://schemas.microsoft.com/office/powerpoint/2010/main" val="6951853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lgn="l">
              <a:spcAft>
                <a:spcPts val="800"/>
              </a:spcAft>
              <a:buNone/>
            </a:pPr>
            <a:r>
              <a:rPr sz="2000" b="1" i="0">
                <a:latin typeface="Times New Roman"/>
                <a:cs typeface="Times New Roman"/>
              </a:rPr>
              <a:t>Problem statement</a:t>
            </a:r>
          </a:p>
          <a:p>
            <a:pPr marL="0" indent="0" algn="l">
              <a:spcAft>
                <a:spcPts val="800"/>
              </a:spcAft>
              <a:buNone/>
            </a:pPr>
            <a:r>
              <a:rPr sz="1800" b="0" i="0">
                <a:latin typeface="Times New Roman"/>
                <a:cs typeface="Times New Roman"/>
              </a:rPr>
              <a:t>Bengaluru records lakhs of traffic violations every month. Existing enforcement relies on fixed cameras at a limited number of junctions and on manual checks, and offenders are informed only after the fact. There is a need for an affordable, expandable AI (Artificial Intelligence) system that detects multiple violation types from video in real time, identifies the vehicle from its number plate, and alerts both the offender and the traffic police with evidence.</a:t>
            </a:r>
          </a:p>
          <a:p>
            <a:pPr marL="0" indent="0" algn="l">
              <a:spcAft>
                <a:spcPts val="800"/>
              </a:spcAft>
              <a:buNone/>
            </a:pPr>
            <a:r>
              <a:rPr sz="2000" b="1" i="0">
                <a:latin typeface="Times New Roman"/>
                <a:cs typeface="Times New Roman"/>
              </a:rPr>
              <a:t>Scope</a:t>
            </a:r>
          </a:p>
          <a:p>
            <a:pPr marL="342900" indent="-342900" algn="l">
              <a:spcAft>
                <a:spcPts val="800"/>
              </a:spcAft>
              <a:buFont typeface="Arial"/>
              <a:buChar char="•"/>
            </a:pPr>
            <a:r>
              <a:rPr sz="1800" b="0" i="0">
                <a:latin typeface="Times New Roman"/>
                <a:cs typeface="Times New Roman"/>
              </a:rPr>
              <a:t>Violations: no helmet (rider and pillion), triple riding, red-light jumping, wrong-way driving, no seatbelt, phone use while driving.</a:t>
            </a:r>
          </a:p>
          <a:p>
            <a:pPr marL="342900" indent="-342900" algn="l">
              <a:spcAft>
                <a:spcPts val="800"/>
              </a:spcAft>
              <a:buFont typeface="Arial"/>
              <a:buChar char="•"/>
            </a:pPr>
            <a:r>
              <a:rPr sz="1800" b="0" i="0">
                <a:latin typeface="Times New Roman"/>
                <a:cs typeface="Times New Roman"/>
              </a:rPr>
              <a:t>Inputs: recorded or live video from junction CCTV (Closed-Circuit Television) cameras and vehicle dashcams on Bengaluru roads.</a:t>
            </a:r>
          </a:p>
          <a:p>
            <a:pPr marL="342900" indent="-342900" algn="l">
              <a:spcAft>
                <a:spcPts val="800"/>
              </a:spcAft>
              <a:buFont typeface="Arial"/>
              <a:buChar char="•"/>
            </a:pPr>
            <a:r>
              <a:rPr sz="1800" b="0" i="0">
                <a:latin typeface="Times New Roman"/>
                <a:cs typeface="Times New Roman"/>
              </a:rPr>
              <a:t>Outputs: violation record with evidence clip, number plate, time and location; SMS (Short Message Service)/app alert; police dashboard.</a:t>
            </a:r>
          </a:p>
          <a:p>
            <a:pPr marL="342900" indent="-342900" algn="l">
              <a:spcAft>
                <a:spcPts val="800"/>
              </a:spcAft>
              <a:buFont typeface="Arial"/>
              <a:buChar char="•"/>
            </a:pPr>
            <a:r>
              <a:rPr sz="1800" b="0" i="0">
                <a:latin typeface="Times New Roman"/>
                <a:cs typeface="Times New Roman"/>
              </a:rPr>
              <a:t>Out of scope: integration with the official e-challan payment system and legal processing.</a:t>
            </a: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a:xfrm>
            <a:off x="609600" y="228600"/>
            <a:ext cx="7485089" cy="563562"/>
          </a:xfrm>
        </p:spPr>
        <p:txBody>
          <a:bodyPr>
            <a:noAutofit/>
          </a:bodyPr>
          <a:lstStyle/>
          <a:p>
            <a:r>
              <a:rPr lang="en-US" sz="3200" b="1" dirty="0">
                <a:latin typeface="Times New Roman" panose="02020603050405020304" pitchFamily="18" charset="0"/>
                <a:cs typeface="Times New Roman" panose="02020603050405020304" pitchFamily="18" charset="0"/>
              </a:rPr>
              <a:t>Problem Statement / Scope of the Project</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9FE1904-C542-AA1E-2C15-5A81417C96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4197" y="229141"/>
            <a:ext cx="2900179" cy="563021"/>
          </a:xfrm>
          <a:prstGeom prst="rect">
            <a:avLst/>
          </a:prstGeom>
        </p:spPr>
      </p:pic>
    </p:spTree>
    <p:extLst>
      <p:ext uri="{BB962C8B-B14F-4D97-AF65-F5344CB8AC3E}">
        <p14:creationId xmlns:p14="http://schemas.microsoft.com/office/powerpoint/2010/main" val="323998097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1525-3BCB-4374-17CC-3091B41675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47EA18-0651-E7BB-17C7-C377043CE058}"/>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lgn="l">
              <a:spcAft>
                <a:spcPts val="800"/>
              </a:spcAft>
              <a:buNone/>
            </a:pPr>
            <a:r>
              <a:rPr sz="2000" b="0" i="0">
                <a:latin typeface="Times New Roman"/>
                <a:cs typeface="Times New Roman"/>
              </a:rPr>
              <a:t>A step-by-step, camera-based AI (Artificial Intelligence) system that turns traffic video into verified violation alerts:</a:t>
            </a:r>
          </a:p>
          <a:p>
            <a:pPr marL="342900" indent="-342900" algn="l">
              <a:spcAft>
                <a:spcPts val="800"/>
              </a:spcAft>
              <a:buFont typeface="Arial"/>
              <a:buChar char="•"/>
            </a:pPr>
            <a:r>
              <a:rPr sz="1800" b="1" i="0">
                <a:latin typeface="Times New Roman"/>
                <a:cs typeface="Times New Roman"/>
              </a:rPr>
              <a:t>Detect: </a:t>
            </a:r>
            <a:r>
              <a:rPr sz="1800" b="0" i="0">
                <a:latin typeface="Times New Roman"/>
                <a:cs typeface="Times New Roman"/>
              </a:rPr>
              <a:t>a YOLOv8 (You Only Look Once, version 8) model, retrained on Indian traffic, finds vehicles, riders, helmets, seatbelts, phones, number plates and the signal colour.</a:t>
            </a:r>
          </a:p>
          <a:p>
            <a:pPr marL="342900" indent="-342900" algn="l">
              <a:spcAft>
                <a:spcPts val="800"/>
              </a:spcAft>
              <a:buFont typeface="Arial"/>
              <a:buChar char="•"/>
            </a:pPr>
            <a:r>
              <a:rPr sz="1800" b="1" i="0">
                <a:latin typeface="Times New Roman"/>
                <a:cs typeface="Times New Roman"/>
              </a:rPr>
              <a:t>Track: </a:t>
            </a:r>
            <a:r>
              <a:rPr sz="1800" b="0" i="0">
                <a:latin typeface="Times New Roman"/>
                <a:cs typeface="Times New Roman"/>
              </a:rPr>
              <a:t>each road user gets an ID that follows it across frames, so a violation is counted only once; riders are matched to their motorcycle.</a:t>
            </a:r>
          </a:p>
          <a:p>
            <a:pPr marL="342900" indent="-342900" algn="l">
              <a:spcAft>
                <a:spcPts val="800"/>
              </a:spcAft>
              <a:buFont typeface="Arial"/>
              <a:buChar char="•"/>
            </a:pPr>
            <a:r>
              <a:rPr sz="1800" b="1" i="0">
                <a:latin typeface="Times New Roman"/>
                <a:cs typeface="Times New Roman"/>
              </a:rPr>
              <a:t>Decide: </a:t>
            </a:r>
            <a:r>
              <a:rPr sz="1800" b="0" i="0">
                <a:latin typeface="Times New Roman"/>
                <a:cs typeface="Times New Roman"/>
              </a:rPr>
              <a:t>a set of rules checks each vehicle against the stop-line, signal colour, lane direction and number of riders.</a:t>
            </a:r>
          </a:p>
          <a:p>
            <a:pPr marL="342900" indent="-342900" algn="l">
              <a:spcAft>
                <a:spcPts val="800"/>
              </a:spcAft>
              <a:buFont typeface="Arial"/>
              <a:buChar char="•"/>
            </a:pPr>
            <a:r>
              <a:rPr sz="1800" b="1" i="0">
                <a:latin typeface="Times New Roman"/>
                <a:cs typeface="Times New Roman"/>
              </a:rPr>
              <a:t>Identify: </a:t>
            </a:r>
            <a:r>
              <a:rPr sz="1800" b="0" i="0">
                <a:latin typeface="Times New Roman"/>
                <a:cs typeface="Times New Roman"/>
              </a:rPr>
              <a:t>the plate is cut out from the clearest frames and read using OCR (Optical Character Recognition); readings from several frames are combined by majority vote.</a:t>
            </a:r>
          </a:p>
          <a:p>
            <a:pPr marL="342900" indent="-342900" algn="l">
              <a:spcAft>
                <a:spcPts val="800"/>
              </a:spcAft>
              <a:buFont typeface="Arial"/>
              <a:buChar char="•"/>
            </a:pPr>
            <a:r>
              <a:rPr sz="1800" b="1" i="0">
                <a:latin typeface="Times New Roman"/>
                <a:cs typeface="Times New Roman"/>
              </a:rPr>
              <a:t>Alert: </a:t>
            </a:r>
            <a:r>
              <a:rPr sz="1800" b="0" i="0">
                <a:latin typeface="Times New Roman"/>
                <a:cs typeface="Times New Roman"/>
              </a:rPr>
              <a:t>an evidence clip and record are stored; the offender gets an SMS (Short Message Service)/app alert and the police see it on a live dashboard with hotspot maps.</a:t>
            </a:r>
          </a:p>
          <a:p>
            <a:pPr marL="342900" indent="-342900" algn="l">
              <a:spcAft>
                <a:spcPts val="800"/>
              </a:spcAft>
              <a:buFont typeface="Arial"/>
              <a:buChar char="•"/>
            </a:pPr>
            <a:r>
              <a:rPr sz="1800" b="1" i="0">
                <a:latin typeface="Times New Roman"/>
                <a:cs typeface="Times New Roman"/>
              </a:rPr>
              <a:t>Deploy: </a:t>
            </a:r>
            <a:r>
              <a:rPr sz="1800" b="0" i="0">
                <a:latin typeface="Times New Roman"/>
                <a:cs typeface="Times New Roman"/>
              </a:rPr>
              <a:t>runs on a small computer at the junction or in a patrol vehicle; only violation events are sent to the main server.</a:t>
            </a:r>
          </a:p>
        </p:txBody>
      </p:sp>
      <p:sp>
        <p:nvSpPr>
          <p:cNvPr id="3" name="Title 2">
            <a:extLst>
              <a:ext uri="{FF2B5EF4-FFF2-40B4-BE49-F238E27FC236}">
                <a16:creationId xmlns:a16="http://schemas.microsoft.com/office/drawing/2014/main" id="{19BE5AE2-40E3-427C-DEBA-FA190D02BEC1}"/>
              </a:ext>
            </a:extLst>
          </p:cNvPr>
          <p:cNvSpPr>
            <a:spLocks noGrp="1"/>
          </p:cNvSpPr>
          <p:nvPr>
            <p:ph type="title"/>
          </p:nvPr>
        </p:nvSpPr>
        <p:spPr/>
        <p:txBody>
          <a:bodyPr>
            <a:noAutofit/>
          </a:bodyPr>
          <a:lstStyle/>
          <a:p>
            <a:r>
              <a:rPr lang="en-IN" sz="3200" b="1" dirty="0">
                <a:latin typeface="Times New Roman" panose="02020603050405020304" pitchFamily="18" charset="0"/>
                <a:cs typeface="Times New Roman" panose="02020603050405020304" pitchFamily="18" charset="0"/>
              </a:rPr>
              <a:t>Proposed Idea / Solution</a:t>
            </a:r>
          </a:p>
        </p:txBody>
      </p:sp>
      <p:pic>
        <p:nvPicPr>
          <p:cNvPr id="5" name="Picture 4">
            <a:extLst>
              <a:ext uri="{FF2B5EF4-FFF2-40B4-BE49-F238E27FC236}">
                <a16:creationId xmlns:a16="http://schemas.microsoft.com/office/drawing/2014/main" id="{8EAABE41-1A78-C313-15FA-4DAE2C1B93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9266" y="228601"/>
            <a:ext cx="2990120" cy="563562"/>
          </a:xfrm>
          <a:prstGeom prst="rect">
            <a:avLst/>
          </a:prstGeom>
        </p:spPr>
      </p:pic>
    </p:spTree>
    <p:extLst>
      <p:ext uri="{BB962C8B-B14F-4D97-AF65-F5344CB8AC3E}">
        <p14:creationId xmlns:p14="http://schemas.microsoft.com/office/powerpoint/2010/main" val="15329670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2826-D987-657A-B60A-74C1EACDDD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E6F616-BA4B-81FE-2F89-F371C90508B7}"/>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457200" indent="-457200" algn="l">
              <a:spcAft>
                <a:spcPts val="800"/>
              </a:spcAft>
              <a:buNone/>
            </a:pPr>
            <a:r>
              <a:rPr sz="1800" b="1" i="0">
                <a:latin typeface="Times New Roman"/>
                <a:cs typeface="Times New Roman"/>
              </a:rPr>
              <a:t>1.	</a:t>
            </a:r>
            <a:r>
              <a:rPr sz="1800" b="0" i="0">
                <a:latin typeface="Times New Roman"/>
                <a:cs typeface="Times New Roman"/>
              </a:rPr>
              <a:t>To build a single AI (Artificial Intelligence) system that detects six common traffic violations from Bengaluru road video.</a:t>
            </a:r>
          </a:p>
          <a:p>
            <a:pPr marL="457200" indent="-457200" algn="l">
              <a:spcAft>
                <a:spcPts val="800"/>
              </a:spcAft>
              <a:buNone/>
            </a:pPr>
            <a:r>
              <a:rPr sz="1800" b="1" i="0">
                <a:latin typeface="Times New Roman"/>
                <a:cs typeface="Times New Roman"/>
              </a:rPr>
              <a:t>2.	</a:t>
            </a:r>
            <a:r>
              <a:rPr sz="1800" b="0" i="0">
                <a:latin typeface="Times New Roman"/>
                <a:cs typeface="Times New Roman"/>
              </a:rPr>
              <a:t>To detect helmets, riders and plates with at least 85% mAP (mean Average Precision), a detection accuracy score, on Indian test data, while processing at least 15 frames per second on a small on-site device.</a:t>
            </a:r>
          </a:p>
          <a:p>
            <a:pPr marL="457200" indent="-457200" algn="l">
              <a:spcAft>
                <a:spcPts val="800"/>
              </a:spcAft>
              <a:buNone/>
            </a:pPr>
            <a:r>
              <a:rPr sz="1800" b="1" i="0">
                <a:latin typeface="Times New Roman"/>
                <a:cs typeface="Times New Roman"/>
              </a:rPr>
              <a:t>3.	</a:t>
            </a:r>
            <a:r>
              <a:rPr sz="1800" b="0" i="0">
                <a:latin typeface="Times New Roman"/>
                <a:cs typeface="Times New Roman"/>
              </a:rPr>
              <a:t>To read Indian number plates, including two-line plates and HSRP (High Security Registration Plate), accurately by combining readings from several frames.</a:t>
            </a:r>
          </a:p>
          <a:p>
            <a:pPr marL="457200" indent="-457200" algn="l">
              <a:spcAft>
                <a:spcPts val="800"/>
              </a:spcAft>
              <a:buNone/>
            </a:pPr>
            <a:r>
              <a:rPr sz="1800" b="1" i="0">
                <a:latin typeface="Times New Roman"/>
                <a:cs typeface="Times New Roman"/>
              </a:rPr>
              <a:t>4.	</a:t>
            </a:r>
            <a:r>
              <a:rPr sz="1800" b="0" i="0">
                <a:latin typeface="Times New Roman"/>
                <a:cs typeface="Times New Roman"/>
              </a:rPr>
              <a:t>To send an evidence-backed alert within a few seconds of a violation and log it on a web dashboard.</a:t>
            </a:r>
          </a:p>
          <a:p>
            <a:pPr marL="457200" indent="-457200" algn="l">
              <a:spcAft>
                <a:spcPts val="800"/>
              </a:spcAft>
              <a:buNone/>
            </a:pPr>
            <a:r>
              <a:rPr sz="1800" b="1" i="0">
                <a:latin typeface="Times New Roman"/>
                <a:cs typeface="Times New Roman"/>
              </a:rPr>
              <a:t>5.	</a:t>
            </a:r>
            <a:r>
              <a:rPr sz="1800" b="0" i="0">
                <a:latin typeface="Times New Roman"/>
                <a:cs typeface="Times New Roman"/>
              </a:rPr>
              <a:t>To analyse violation hotspots and peak hours to help the traffic police plan enforcement.</a:t>
            </a:r>
          </a:p>
        </p:txBody>
      </p:sp>
      <p:sp>
        <p:nvSpPr>
          <p:cNvPr id="3" name="Title 2">
            <a:extLst>
              <a:ext uri="{FF2B5EF4-FFF2-40B4-BE49-F238E27FC236}">
                <a16:creationId xmlns:a16="http://schemas.microsoft.com/office/drawing/2014/main" id="{DF291E41-CF58-74B2-9E5F-75768CDC9158}"/>
              </a:ext>
            </a:extLst>
          </p:cNvPr>
          <p:cNvSpPr>
            <a:spLocks noGrp="1"/>
          </p:cNvSpPr>
          <p:nvPr>
            <p:ph type="title"/>
          </p:nvPr>
        </p:nvSpPr>
        <p:spPr>
          <a:xfrm>
            <a:off x="609600" y="228600"/>
            <a:ext cx="8864184" cy="563562"/>
          </a:xfrm>
        </p:spPr>
        <p:txBody>
          <a:bodyPr>
            <a:noAutofit/>
          </a:bodyPr>
          <a:lstStyle/>
          <a:p>
            <a:r>
              <a:rPr lang="en-IN" sz="3200" b="1" dirty="0">
                <a:latin typeface="Times New Roman" panose="02020603050405020304" pitchFamily="18" charset="0"/>
                <a:cs typeface="Times New Roman" panose="02020603050405020304" pitchFamily="18" charset="0"/>
              </a:rPr>
              <a:t>Objectives of the Idea / Solution as Design Project</a:t>
            </a:r>
          </a:p>
        </p:txBody>
      </p:sp>
      <p:pic>
        <p:nvPicPr>
          <p:cNvPr id="6" name="Picture 5">
            <a:extLst>
              <a:ext uri="{FF2B5EF4-FFF2-40B4-BE49-F238E27FC236}">
                <a16:creationId xmlns:a16="http://schemas.microsoft.com/office/drawing/2014/main" id="{4321D194-BF7A-AFFD-A853-AAA15D9752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73784" y="228600"/>
            <a:ext cx="2505439" cy="563562"/>
          </a:xfrm>
          <a:prstGeom prst="rect">
            <a:avLst/>
          </a:prstGeom>
        </p:spPr>
      </p:pic>
    </p:spTree>
    <p:extLst>
      <p:ext uri="{BB962C8B-B14F-4D97-AF65-F5344CB8AC3E}">
        <p14:creationId xmlns:p14="http://schemas.microsoft.com/office/powerpoint/2010/main" val="16131464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lgn="l">
              <a:spcAft>
                <a:spcPts val="600"/>
              </a:spcAft>
              <a:buNone/>
            </a:pPr>
            <a:r>
              <a:rPr sz="1700" b="1" i="0">
                <a:latin typeface="Times New Roman"/>
                <a:cs typeface="Times New Roman"/>
              </a:rPr>
              <a:t>1. Data collection: </a:t>
            </a:r>
            <a:r>
              <a:rPr sz="1700" b="0" i="0">
                <a:latin typeface="Times New Roman"/>
                <a:cs typeface="Times New Roman"/>
              </a:rPr>
              <a:t>IDD (India Driving Dataset), AI City 2023 Track 5 and RideSafe-400, plus our own clips from Bengaluru junctions (e.g., Silk Board, Hebbal, KR Puram).</a:t>
            </a:r>
          </a:p>
          <a:p>
            <a:pPr marL="0" indent="0" algn="l">
              <a:spcAft>
                <a:spcPts val="600"/>
              </a:spcAft>
              <a:buNone/>
            </a:pPr>
            <a:r>
              <a:rPr sz="1700" b="1" i="0">
                <a:latin typeface="Times New Roman"/>
                <a:cs typeface="Times New Roman"/>
              </a:rPr>
              <a:t>2. Labelling: </a:t>
            </a:r>
            <a:r>
              <a:rPr sz="1700" b="0" i="0">
                <a:latin typeface="Times New Roman"/>
                <a:cs typeface="Times New Roman"/>
              </a:rPr>
              <a:t>mark vehicles, riders, helmet/no-helmet, seatbelt, phone, plates and signal lights in video frames using the labelling tool CVAT (Computer Vision Annotation Tool); split the data into 70% training, 15% checking and 15% testing.</a:t>
            </a:r>
          </a:p>
          <a:p>
            <a:pPr marL="0" indent="0" algn="l">
              <a:spcAft>
                <a:spcPts val="600"/>
              </a:spcAft>
              <a:buNone/>
            </a:pPr>
            <a:r>
              <a:rPr sz="1700" b="1" i="0">
                <a:latin typeface="Times New Roman"/>
                <a:cs typeface="Times New Roman"/>
              </a:rPr>
              <a:t>3. Model training: </a:t>
            </a:r>
            <a:r>
              <a:rPr sz="1700" b="0" i="0">
                <a:latin typeface="Times New Roman"/>
                <a:cs typeface="Times New Roman"/>
              </a:rPr>
              <a:t>retrain YOLOv8 (You Only Look Once, version 8) on our data, adding night, rain and blurred versions of the images; compare it with the older YOLOv5.</a:t>
            </a:r>
          </a:p>
          <a:p>
            <a:pPr marL="0" indent="0" algn="l">
              <a:spcAft>
                <a:spcPts val="600"/>
              </a:spcAft>
              <a:buNone/>
            </a:pPr>
            <a:r>
              <a:rPr sz="1700" b="1" i="0">
                <a:latin typeface="Times New Roman"/>
                <a:cs typeface="Times New Roman"/>
              </a:rPr>
              <a:t>4. Tracking &amp; matching: </a:t>
            </a:r>
            <a:r>
              <a:rPr sz="1700" b="0" i="0">
                <a:latin typeface="Times New Roman"/>
                <a:cs typeface="Times New Roman"/>
              </a:rPr>
              <a:t>give each vehicle an ID that follows it across frames; match riders to motorcycles by their position.</a:t>
            </a:r>
          </a:p>
          <a:p>
            <a:pPr marL="0" indent="0" algn="l">
              <a:spcAft>
                <a:spcPts val="600"/>
              </a:spcAft>
              <a:buNone/>
            </a:pPr>
            <a:r>
              <a:rPr sz="1700" b="1" i="0">
                <a:latin typeface="Times New Roman"/>
                <a:cs typeface="Times New Roman"/>
              </a:rPr>
              <a:t>5. Violation rules: </a:t>
            </a:r>
            <a:r>
              <a:rPr sz="1700" b="0" i="0">
                <a:latin typeface="Times New Roman"/>
                <a:cs typeface="Times New Roman"/>
              </a:rPr>
              <a:t>for each camera, mark the stop-line, lane direction and signal area; a violation is confirmed only if it is seen in several frames, to avoid false alarms.</a:t>
            </a:r>
          </a:p>
          <a:p>
            <a:pPr marL="0" indent="0" algn="l">
              <a:spcAft>
                <a:spcPts val="600"/>
              </a:spcAft>
              <a:buNone/>
            </a:pPr>
            <a:r>
              <a:rPr sz="1700" b="1" i="0">
                <a:latin typeface="Times New Roman"/>
                <a:cs typeface="Times New Roman"/>
              </a:rPr>
              <a:t>6. ANPR (Automatic Number Plate Recognition): </a:t>
            </a:r>
            <a:r>
              <a:rPr sz="1700" b="0" i="0">
                <a:latin typeface="Times New Roman"/>
                <a:cs typeface="Times New Roman"/>
              </a:rPr>
              <a:t>find the plate, read it using OCR (Optical Character Recognition), check it follows the Indian plate format, and take the most common reading across frames.</a:t>
            </a:r>
          </a:p>
          <a:p>
            <a:pPr marL="0" indent="0" algn="l">
              <a:spcAft>
                <a:spcPts val="600"/>
              </a:spcAft>
              <a:buNone/>
            </a:pPr>
            <a:r>
              <a:rPr sz="1700" b="1" i="0">
                <a:latin typeface="Times New Roman"/>
                <a:cs typeface="Times New Roman"/>
              </a:rPr>
              <a:t>7. Alerts &amp; evaluation: </a:t>
            </a:r>
            <a:r>
              <a:rPr sz="1700" b="0" i="0">
                <a:latin typeface="Times New Roman"/>
                <a:cs typeface="Times New Roman"/>
              </a:rPr>
              <a:t>web server, database, SMS (Short Message Service) and dashboard; measure detection accuracy using precision, recall, F1 (combined precision and recall score) and mAP (mean Average Precision); also plate-reading accuracy, speed in FPS (Frames Per Second) and alert delay.</a:t>
            </a: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Proposed Research / Methodology</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9172F0-DC24-A9DB-0F68-54E3881FD5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2016" y="228600"/>
            <a:ext cx="2775262" cy="520477"/>
          </a:xfrm>
          <a:prstGeom prst="rect">
            <a:avLst/>
          </a:prstGeom>
        </p:spPr>
      </p:pic>
    </p:spTree>
    <p:extLst>
      <p:ext uri="{BB962C8B-B14F-4D97-AF65-F5344CB8AC3E}">
        <p14:creationId xmlns:p14="http://schemas.microsoft.com/office/powerpoint/2010/main" val="23114929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D9CD0-9C8B-8597-4BC5-4E885C24F84C}"/>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342900" indent="-342900" algn="l">
              <a:spcAft>
                <a:spcPts val="800"/>
              </a:spcAft>
              <a:buFont typeface="Arial"/>
              <a:buChar char="•"/>
            </a:pPr>
            <a:r>
              <a:rPr sz="1800" b="1" i="0">
                <a:latin typeface="Times New Roman"/>
                <a:cs typeface="Times New Roman"/>
              </a:rPr>
              <a:t>Cameras: </a:t>
            </a:r>
            <a:r>
              <a:rPr sz="1800" b="0" i="0">
                <a:latin typeface="Times New Roman"/>
                <a:cs typeface="Times New Roman"/>
              </a:rPr>
              <a:t>Full HD (High Definition, 1080p) IP (Internet Protocol) / CCTV (Closed-Circuit Television) cameras at junctions, 25+ FPS (Frames Per Second); a Full HD dashcam for mobile capture.</a:t>
            </a:r>
          </a:p>
          <a:p>
            <a:pPr marL="342900" indent="-342900" algn="l">
              <a:spcAft>
                <a:spcPts val="800"/>
              </a:spcAft>
              <a:buFont typeface="Arial"/>
              <a:buChar char="•"/>
            </a:pPr>
            <a:r>
              <a:rPr sz="1800" b="1" i="0">
                <a:latin typeface="Times New Roman"/>
                <a:cs typeface="Times New Roman"/>
              </a:rPr>
              <a:t>On-site device: </a:t>
            </a:r>
            <a:r>
              <a:rPr sz="1800" b="0" i="0">
                <a:latin typeface="Times New Roman"/>
                <a:cs typeface="Times New Roman"/>
              </a:rPr>
              <a:t>NVIDIA Jetson Orin Nano (8 GB), a small AI (Artificial Intelligence) computer placed at the junction; or a laptop with an NVIDIA RTX GPU (Graphics Processing Unit) with 6 GB+ graphics memory for the prototype.</a:t>
            </a:r>
          </a:p>
          <a:p>
            <a:pPr marL="342900" indent="-342900" algn="l">
              <a:spcAft>
                <a:spcPts val="800"/>
              </a:spcAft>
              <a:buFont typeface="Arial"/>
              <a:buChar char="•"/>
            </a:pPr>
            <a:r>
              <a:rPr sz="1800" b="1" i="0">
                <a:latin typeface="Times New Roman"/>
                <a:cs typeface="Times New Roman"/>
              </a:rPr>
              <a:t>Training machine: </a:t>
            </a:r>
            <a:r>
              <a:rPr sz="1800" b="0" i="0">
                <a:latin typeface="Times New Roman"/>
                <a:cs typeface="Times New Roman"/>
              </a:rPr>
              <a:t>workstation or free cloud GPU (Google Colab / Kaggle), 16 GB+ RAM (Random Access Memory).</a:t>
            </a:r>
          </a:p>
          <a:p>
            <a:pPr marL="342900" indent="-342900" algn="l">
              <a:spcAft>
                <a:spcPts val="800"/>
              </a:spcAft>
              <a:buFont typeface="Arial"/>
              <a:buChar char="•"/>
            </a:pPr>
            <a:r>
              <a:rPr sz="1800" b="1" i="0">
                <a:latin typeface="Times New Roman"/>
                <a:cs typeface="Times New Roman"/>
              </a:rPr>
              <a:t>Server: </a:t>
            </a:r>
            <a:r>
              <a:rPr sz="1800" b="0" i="0">
                <a:latin typeface="Times New Roman"/>
                <a:cs typeface="Times New Roman"/>
              </a:rPr>
              <a:t>4-core CPU (Central Processing Unit), 16 GB RAM, 500 GB SSD (Solid State Drive) for the database, evidence clips and dashboard.</a:t>
            </a:r>
          </a:p>
          <a:p>
            <a:pPr marL="342900" indent="-342900" algn="l">
              <a:spcAft>
                <a:spcPts val="800"/>
              </a:spcAft>
              <a:buFont typeface="Arial"/>
              <a:buChar char="•"/>
            </a:pPr>
            <a:r>
              <a:rPr sz="1800" b="1" i="0">
                <a:latin typeface="Times New Roman"/>
                <a:cs typeface="Times New Roman"/>
              </a:rPr>
              <a:t>Network: </a:t>
            </a:r>
            <a:r>
              <a:rPr sz="1800" b="0" i="0">
                <a:latin typeface="Times New Roman"/>
                <a:cs typeface="Times New Roman"/>
              </a:rPr>
              <a:t>4G/LTE (Long-Term Evolution) router or wired broadband to send violation events from the junction to the server.</a:t>
            </a:r>
          </a:p>
          <a:p>
            <a:pPr marL="342900" indent="-342900" algn="l">
              <a:spcAft>
                <a:spcPts val="800"/>
              </a:spcAft>
              <a:buFont typeface="Arial"/>
              <a:buChar char="•"/>
            </a:pPr>
            <a:r>
              <a:rPr sz="1800" b="1" i="0">
                <a:latin typeface="Times New Roman"/>
                <a:cs typeface="Times New Roman"/>
              </a:rPr>
              <a:t>Optional: </a:t>
            </a:r>
            <a:r>
              <a:rPr sz="1800" b="0" i="0">
                <a:latin typeface="Times New Roman"/>
                <a:cs typeface="Times New Roman"/>
              </a:rPr>
              <a:t>GSM (Global System for Mobile Communications) module (e.g., SIM800L) to send SMS (Short Message Service) alerts without the internet.</a:t>
            </a:r>
          </a:p>
        </p:txBody>
      </p:sp>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4694294"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Hardware Requirements</a:t>
            </a:r>
          </a:p>
        </p:txBody>
      </p:sp>
      <p:pic>
        <p:nvPicPr>
          <p:cNvPr id="5" name="Picture 4">
            <a:extLst>
              <a:ext uri="{FF2B5EF4-FFF2-40B4-BE49-F238E27FC236}">
                <a16:creationId xmlns:a16="http://schemas.microsoft.com/office/drawing/2014/main" id="{E315328B-2062-6B94-DEDE-8CFD1B404E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7184" y="151141"/>
            <a:ext cx="3179997" cy="550457"/>
          </a:xfrm>
          <a:prstGeom prst="rect">
            <a:avLst/>
          </a:prstGeom>
        </p:spPr>
      </p:pic>
    </p:spTree>
    <p:extLst>
      <p:ext uri="{BB962C8B-B14F-4D97-AF65-F5344CB8AC3E}">
        <p14:creationId xmlns:p14="http://schemas.microsoft.com/office/powerpoint/2010/main" val="14066248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D9CD0-9C8B-8597-4BC5-4E885C24F84C}"/>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342900" indent="-342900" algn="l">
              <a:spcAft>
                <a:spcPts val="800"/>
              </a:spcAft>
              <a:buFont typeface="Arial"/>
              <a:buChar char="•"/>
            </a:pPr>
            <a:r>
              <a:rPr sz="1800" b="1" i="0">
                <a:latin typeface="Times New Roman"/>
                <a:cs typeface="Times New Roman"/>
              </a:rPr>
              <a:t>Language &amp; OS (Operating System): </a:t>
            </a:r>
            <a:r>
              <a:rPr sz="1800" b="0" i="0">
                <a:latin typeface="Times New Roman"/>
                <a:cs typeface="Times New Roman"/>
              </a:rPr>
              <a:t>Python 3.10+, Ubuntu 22.04 / Windows 11, JetPack (software for the Jetson device).</a:t>
            </a:r>
          </a:p>
          <a:p>
            <a:pPr marL="342900" indent="-342900" algn="l">
              <a:spcAft>
                <a:spcPts val="800"/>
              </a:spcAft>
              <a:buFont typeface="Arial"/>
              <a:buChar char="•"/>
            </a:pPr>
            <a:r>
              <a:rPr sz="1800" b="1" i="0">
                <a:latin typeface="Times New Roman"/>
                <a:cs typeface="Times New Roman"/>
              </a:rPr>
              <a:t>AI (Artificial Intelligence) model: </a:t>
            </a:r>
            <a:r>
              <a:rPr sz="1800" b="0" i="0">
                <a:latin typeface="Times New Roman"/>
                <a:cs typeface="Times New Roman"/>
              </a:rPr>
              <a:t>PyTorch, Ultralytics YOLOv8 (You Only Look Once, version 8).</a:t>
            </a:r>
          </a:p>
          <a:p>
            <a:pPr marL="342900" indent="-342900" algn="l">
              <a:spcAft>
                <a:spcPts val="800"/>
              </a:spcAft>
              <a:buFont typeface="Arial"/>
              <a:buChar char="•"/>
            </a:pPr>
            <a:r>
              <a:rPr sz="1800" b="1" i="0">
                <a:latin typeface="Times New Roman"/>
                <a:cs typeface="Times New Roman"/>
              </a:rPr>
              <a:t>Video &amp; tracking: </a:t>
            </a:r>
            <a:r>
              <a:rPr sz="1800" b="0" i="0">
                <a:latin typeface="Times New Roman"/>
                <a:cs typeface="Times New Roman"/>
              </a:rPr>
              <a:t>OpenCV for video handling; ByteTrack / DeepSORT to follow vehicles across frames.</a:t>
            </a:r>
          </a:p>
          <a:p>
            <a:pPr marL="342900" indent="-342900" algn="l">
              <a:spcAft>
                <a:spcPts val="800"/>
              </a:spcAft>
              <a:buFont typeface="Arial"/>
              <a:buChar char="•"/>
            </a:pPr>
            <a:r>
              <a:rPr sz="1800" b="1" i="0">
                <a:latin typeface="Times New Roman"/>
                <a:cs typeface="Times New Roman"/>
              </a:rPr>
              <a:t>Number-plate reading: </a:t>
            </a:r>
            <a:r>
              <a:rPr sz="1800" b="0" i="0">
                <a:latin typeface="Times New Roman"/>
                <a:cs typeface="Times New Roman"/>
              </a:rPr>
              <a:t>PaddleOCR.</a:t>
            </a:r>
          </a:p>
          <a:p>
            <a:pPr marL="342900" indent="-342900" algn="l">
              <a:spcAft>
                <a:spcPts val="800"/>
              </a:spcAft>
              <a:buFont typeface="Arial"/>
              <a:buChar char="•"/>
            </a:pPr>
            <a:r>
              <a:rPr sz="1800" b="1" i="0">
                <a:latin typeface="Times New Roman"/>
                <a:cs typeface="Times New Roman"/>
              </a:rPr>
              <a:t>Server &amp; database: </a:t>
            </a:r>
            <a:r>
              <a:rPr sz="1800" b="0" i="0">
                <a:latin typeface="Times New Roman"/>
                <a:cs typeface="Times New Roman"/>
              </a:rPr>
              <a:t>FastAPI, PostgreSQL (or SQLite for the prototype).</a:t>
            </a:r>
          </a:p>
          <a:p>
            <a:pPr marL="342900" indent="-342900" algn="l">
              <a:spcAft>
                <a:spcPts val="800"/>
              </a:spcAft>
              <a:buFont typeface="Arial"/>
              <a:buChar char="•"/>
            </a:pPr>
            <a:r>
              <a:rPr sz="1800" b="1" i="0">
                <a:latin typeface="Times New Roman"/>
                <a:cs typeface="Times New Roman"/>
              </a:rPr>
              <a:t>Dashboard: </a:t>
            </a:r>
            <a:r>
              <a:rPr sz="1800" b="0" i="0">
                <a:latin typeface="Times New Roman"/>
                <a:cs typeface="Times New Roman"/>
              </a:rPr>
              <a:t>React or Streamlit, with OpenStreetMap for hotspot maps.</a:t>
            </a:r>
          </a:p>
          <a:p>
            <a:pPr marL="342900" indent="-342900" algn="l">
              <a:spcAft>
                <a:spcPts val="800"/>
              </a:spcAft>
              <a:buFont typeface="Arial"/>
              <a:buChar char="•"/>
            </a:pPr>
            <a:r>
              <a:rPr sz="1800" b="1" i="0">
                <a:latin typeface="Times New Roman"/>
                <a:cs typeface="Times New Roman"/>
              </a:rPr>
              <a:t>Alerts: </a:t>
            </a:r>
            <a:r>
              <a:rPr sz="1800" b="0" i="0">
                <a:latin typeface="Times New Roman"/>
                <a:cs typeface="Times New Roman"/>
              </a:rPr>
              <a:t>SMS (Short Message Service) services (Twilio / Fast2SMS) and Firebase app notifications.</a:t>
            </a:r>
          </a:p>
          <a:p>
            <a:pPr marL="342900" indent="-342900" algn="l">
              <a:spcAft>
                <a:spcPts val="800"/>
              </a:spcAft>
              <a:buFont typeface="Arial"/>
              <a:buChar char="•"/>
            </a:pPr>
            <a:r>
              <a:rPr sz="1800" b="1" i="0">
                <a:latin typeface="Times New Roman"/>
                <a:cs typeface="Times New Roman"/>
              </a:rPr>
              <a:t>Tools: </a:t>
            </a:r>
            <a:r>
              <a:rPr sz="1800" b="0" i="0">
                <a:latin typeface="Times New Roman"/>
                <a:cs typeface="Times New Roman"/>
              </a:rPr>
              <a:t>CVAT (Computer Vision Annotation Tool) / LabelImg for labelling images, Git and GitHub, Google Colab / Kaggle.</a:t>
            </a:r>
          </a:p>
        </p:txBody>
      </p:sp>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Software Requirements</a:t>
            </a:r>
          </a:p>
        </p:txBody>
      </p:sp>
      <p:pic>
        <p:nvPicPr>
          <p:cNvPr id="5" name="Picture 4">
            <a:extLst>
              <a:ext uri="{FF2B5EF4-FFF2-40B4-BE49-F238E27FC236}">
                <a16:creationId xmlns:a16="http://schemas.microsoft.com/office/drawing/2014/main" id="{09455320-2D9F-FA39-6651-A4D0ED124F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29010" y="241174"/>
            <a:ext cx="2818151" cy="550457"/>
          </a:xfrm>
          <a:prstGeom prst="rect">
            <a:avLst/>
          </a:prstGeom>
        </p:spPr>
      </p:pic>
    </p:spTree>
    <p:extLst>
      <p:ext uri="{BB962C8B-B14F-4D97-AF65-F5344CB8AC3E}">
        <p14:creationId xmlns:p14="http://schemas.microsoft.com/office/powerpoint/2010/main" val="41977739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37F2E8EE-CD24-2C42-4A67-9564FE554A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B9D8FE-2220-5A3B-7132-BC49787B79A1}"/>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Process / Flow / Design Diagram</a:t>
            </a: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9E31CD9-0893-71CD-A52F-CE13AF034A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76830" y="138036"/>
            <a:ext cx="2715302" cy="580437"/>
          </a:xfrm>
          <a:prstGeom prst="rect">
            <a:avLst/>
          </a:prstGeom>
        </p:spPr>
      </p:pic>
      <p:sp>
        <p:nvSpPr>
          <p:cNvPr id="6" name="Rounded Rectangle 5"/>
          <p:cNvSpPr/>
          <p:nvPr/>
        </p:nvSpPr>
        <p:spPr>
          <a:xfrm>
            <a:off x="777240" y="1371600"/>
            <a:ext cx="2331720" cy="12344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Video Input</a:t>
            </a:r>
          </a:p>
          <a:p>
            <a:pPr algn="ctr"/>
            <a:r>
              <a:rPr sz="1300" b="0" i="0">
                <a:solidFill>
                  <a:srgbClr val="FFFFFF"/>
                </a:solidFill>
                <a:latin typeface="Times New Roman"/>
                <a:cs typeface="Times New Roman"/>
              </a:rPr>
              <a:t>Junction CCTV (Closed-Circuit Television) / dashcam</a:t>
            </a:r>
          </a:p>
        </p:txBody>
      </p:sp>
      <p:sp>
        <p:nvSpPr>
          <p:cNvPr id="7" name="Right Arrow 6"/>
          <p:cNvSpPr/>
          <p:nvPr/>
        </p:nvSpPr>
        <p:spPr>
          <a:xfrm>
            <a:off x="3182112" y="1851660"/>
            <a:ext cx="310896" cy="27432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566160" y="1371600"/>
            <a:ext cx="2331720" cy="12344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Pre-processing</a:t>
            </a:r>
          </a:p>
          <a:p>
            <a:pPr algn="ctr"/>
            <a:r>
              <a:rPr sz="1300" b="0" i="0">
                <a:solidFill>
                  <a:srgbClr val="FFFFFF"/>
                </a:solidFill>
                <a:latin typeface="Times New Roman"/>
                <a:cs typeface="Times New Roman"/>
              </a:rPr>
              <a:t>Picks frames, resizes and brightens them</a:t>
            </a:r>
          </a:p>
        </p:txBody>
      </p:sp>
      <p:sp>
        <p:nvSpPr>
          <p:cNvPr id="9" name="Right Arrow 8"/>
          <p:cNvSpPr/>
          <p:nvPr/>
        </p:nvSpPr>
        <p:spPr>
          <a:xfrm>
            <a:off x="5971031" y="1851660"/>
            <a:ext cx="310896" cy="27432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55079" y="1371600"/>
            <a:ext cx="2331720" cy="12344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Object Detection</a:t>
            </a:r>
          </a:p>
          <a:p>
            <a:pPr algn="ctr"/>
            <a:r>
              <a:rPr sz="1300" b="0" i="0">
                <a:solidFill>
                  <a:srgbClr val="FFFFFF"/>
                </a:solidFill>
                <a:latin typeface="Times New Roman"/>
                <a:cs typeface="Times New Roman"/>
              </a:rPr>
              <a:t>YOLOv8 (You Only Look Once, version 8) finds vehicles, riders, helmets, plates, signal</a:t>
            </a:r>
          </a:p>
        </p:txBody>
      </p:sp>
      <p:sp>
        <p:nvSpPr>
          <p:cNvPr id="11" name="Right Arrow 10"/>
          <p:cNvSpPr/>
          <p:nvPr/>
        </p:nvSpPr>
        <p:spPr>
          <a:xfrm>
            <a:off x="8759952" y="1851660"/>
            <a:ext cx="310896" cy="27432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143999" y="1371600"/>
            <a:ext cx="2331720" cy="12344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Tracking</a:t>
            </a:r>
          </a:p>
          <a:p>
            <a:pPr algn="ctr"/>
            <a:r>
              <a:rPr sz="1300" b="0" i="0">
                <a:solidFill>
                  <a:srgbClr val="FFFFFF"/>
                </a:solidFill>
                <a:latin typeface="Times New Roman"/>
                <a:cs typeface="Times New Roman"/>
              </a:rPr>
              <a:t>Gives each vehicle an ID; matches riders to bikes</a:t>
            </a:r>
          </a:p>
        </p:txBody>
      </p:sp>
      <p:sp>
        <p:nvSpPr>
          <p:cNvPr id="13" name="Down Arrow 12"/>
          <p:cNvSpPr/>
          <p:nvPr/>
        </p:nvSpPr>
        <p:spPr>
          <a:xfrm>
            <a:off x="10172699" y="2697480"/>
            <a:ext cx="274320" cy="640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3999" y="3429000"/>
            <a:ext cx="2331720" cy="12344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Violation Check</a:t>
            </a:r>
          </a:p>
          <a:p>
            <a:pPr algn="ctr"/>
            <a:r>
              <a:rPr sz="1300" b="0" i="0">
                <a:solidFill>
                  <a:srgbClr val="FFFFFF"/>
                </a:solidFill>
                <a:latin typeface="Times New Roman"/>
                <a:cs typeface="Times New Roman"/>
              </a:rPr>
              <a:t>Rules for stop-line, signal, direction, rider count</a:t>
            </a:r>
          </a:p>
        </p:txBody>
      </p:sp>
      <p:sp>
        <p:nvSpPr>
          <p:cNvPr id="15" name="Left Arrow 14"/>
          <p:cNvSpPr/>
          <p:nvPr/>
        </p:nvSpPr>
        <p:spPr>
          <a:xfrm>
            <a:off x="8759951" y="3909059"/>
            <a:ext cx="310896" cy="274320"/>
          </a:xfrm>
          <a:prstGeom prst="lef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55079" y="3429000"/>
            <a:ext cx="2331720" cy="12344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ANPR</a:t>
            </a:r>
          </a:p>
          <a:p>
            <a:pPr algn="ctr"/>
            <a:r>
              <a:rPr sz="1300" b="0" i="0">
                <a:solidFill>
                  <a:srgbClr val="FFFFFF"/>
                </a:solidFill>
                <a:latin typeface="Times New Roman"/>
                <a:cs typeface="Times New Roman"/>
              </a:rPr>
              <a:t>Automatic Number Plate Recognition: reads the plate</a:t>
            </a:r>
          </a:p>
        </p:txBody>
      </p:sp>
      <p:sp>
        <p:nvSpPr>
          <p:cNvPr id="17" name="Left Arrow 16"/>
          <p:cNvSpPr/>
          <p:nvPr/>
        </p:nvSpPr>
        <p:spPr>
          <a:xfrm>
            <a:off x="5971031" y="3909059"/>
            <a:ext cx="310896" cy="274320"/>
          </a:xfrm>
          <a:prstGeom prst="lef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566160" y="3429000"/>
            <a:ext cx="2331720" cy="12344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Evidence &amp; Record</a:t>
            </a:r>
          </a:p>
          <a:p>
            <a:pPr algn="ctr"/>
            <a:r>
              <a:rPr sz="1300" b="0" i="0">
                <a:solidFill>
                  <a:srgbClr val="FFFFFF"/>
                </a:solidFill>
                <a:latin typeface="Times New Roman"/>
                <a:cs typeface="Times New Roman"/>
              </a:rPr>
              <a:t>Clip, plate, time and location saved to database</a:t>
            </a:r>
          </a:p>
        </p:txBody>
      </p:sp>
      <p:sp>
        <p:nvSpPr>
          <p:cNvPr id="19" name="Left Arrow 18"/>
          <p:cNvSpPr/>
          <p:nvPr/>
        </p:nvSpPr>
        <p:spPr>
          <a:xfrm>
            <a:off x="3182112" y="3909059"/>
            <a:ext cx="310896" cy="274320"/>
          </a:xfrm>
          <a:prstGeom prst="lef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77240" y="3429000"/>
            <a:ext cx="2331720" cy="123444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i="0">
                <a:solidFill>
                  <a:srgbClr val="FFFFFF"/>
                </a:solidFill>
                <a:latin typeface="Times New Roman"/>
                <a:cs typeface="Times New Roman"/>
              </a:rPr>
              <a:t>Alert &amp; Dashboard</a:t>
            </a:r>
          </a:p>
          <a:p>
            <a:pPr algn="ctr"/>
            <a:r>
              <a:rPr sz="1300" b="0" i="0">
                <a:solidFill>
                  <a:srgbClr val="FFFFFF"/>
                </a:solidFill>
                <a:latin typeface="Times New Roman"/>
                <a:cs typeface="Times New Roman"/>
              </a:rPr>
              <a:t>SMS (Short Message Service) / app alert, police dashboard</a:t>
            </a:r>
          </a:p>
        </p:txBody>
      </p:sp>
      <p:sp>
        <p:nvSpPr>
          <p:cNvPr id="21" name="Rounded Rectangle 20"/>
          <p:cNvSpPr/>
          <p:nvPr/>
        </p:nvSpPr>
        <p:spPr>
          <a:xfrm>
            <a:off x="777240" y="5212080"/>
            <a:ext cx="10698480" cy="685800"/>
          </a:xfrm>
          <a:prstGeom prst="roundRect">
            <a:avLst/>
          </a:prstGeom>
          <a:solidFill>
            <a:srgbClr val="D0D8E8"/>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0" i="0">
                <a:solidFill>
                  <a:srgbClr val="1F1F1F"/>
                </a:solidFill>
                <a:latin typeface="Times New Roman"/>
                <a:cs typeface="Times New Roman"/>
              </a:rPr>
              <a:t>Violations checked: no helmet · triple riding · red-light jump · wrong-way · no seatbelt · phone use</a:t>
            </a:r>
          </a:p>
        </p:txBody>
      </p:sp>
    </p:spTree>
    <p:extLst>
      <p:ext uri="{BB962C8B-B14F-4D97-AF65-F5344CB8AC3E}">
        <p14:creationId xmlns:p14="http://schemas.microsoft.com/office/powerpoint/2010/main" val="26613058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9EF7A-D100-228A-91F7-55D819A217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9A16D7-8892-69C5-8E3F-CA899A02E59C}"/>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457200" indent="-457200" algn="l">
              <a:spcAft>
                <a:spcPts val="800"/>
              </a:spcAft>
              <a:buNone/>
            </a:pPr>
            <a:r>
              <a:rPr sz="1800" b="1" i="0">
                <a:latin typeface="Times New Roman"/>
                <a:cs typeface="Times New Roman"/>
              </a:rPr>
              <a:t>1.	Video Input &amp; Clean-up: </a:t>
            </a:r>
            <a:r>
              <a:rPr sz="1800" b="0" i="0">
                <a:latin typeface="Times New Roman"/>
                <a:cs typeface="Times New Roman"/>
              </a:rPr>
              <a:t>reads live or recorded video, picks frames, and improves dark or blurred frames.</a:t>
            </a:r>
          </a:p>
          <a:p>
            <a:pPr marL="457200" indent="-457200" algn="l">
              <a:spcAft>
                <a:spcPts val="800"/>
              </a:spcAft>
              <a:buNone/>
            </a:pPr>
            <a:r>
              <a:rPr sz="1800" b="1" i="0">
                <a:latin typeface="Times New Roman"/>
                <a:cs typeface="Times New Roman"/>
              </a:rPr>
              <a:t>2.	Detection &amp; Tracking: </a:t>
            </a:r>
            <a:r>
              <a:rPr sz="1800" b="0" i="0">
                <a:latin typeface="Times New Roman"/>
                <a:cs typeface="Times New Roman"/>
              </a:rPr>
              <a:t>YOLOv8 (You Only Look Once, version 8) finds objects and each one is followed across frames; riders are matched to motorcycles and drivers to cars.</a:t>
            </a:r>
          </a:p>
          <a:p>
            <a:pPr marL="457200" indent="-457200" algn="l">
              <a:spcAft>
                <a:spcPts val="800"/>
              </a:spcAft>
              <a:buNone/>
            </a:pPr>
            <a:r>
              <a:rPr sz="1800" b="1" i="0">
                <a:latin typeface="Times New Roman"/>
                <a:cs typeface="Times New Roman"/>
              </a:rPr>
              <a:t>3.	Violation Checking: </a:t>
            </a:r>
            <a:r>
              <a:rPr sz="1800" b="0" i="0">
                <a:latin typeface="Times New Roman"/>
                <a:cs typeface="Times New Roman"/>
              </a:rPr>
              <a:t>for each camera, the stop-line, lanes and signal area are marked; simple rules decide each of the six violations.</a:t>
            </a:r>
          </a:p>
          <a:p>
            <a:pPr marL="457200" indent="-457200" algn="l">
              <a:spcAft>
                <a:spcPts val="800"/>
              </a:spcAft>
              <a:buNone/>
            </a:pPr>
            <a:r>
              <a:rPr sz="1800" b="1" i="0">
                <a:latin typeface="Times New Roman"/>
                <a:cs typeface="Times New Roman"/>
              </a:rPr>
              <a:t>4.	Automatic Number Plate Recognition (ANPR): </a:t>
            </a:r>
            <a:r>
              <a:rPr sz="1800" b="0" i="0">
                <a:latin typeface="Times New Roman"/>
                <a:cs typeface="Times New Roman"/>
              </a:rPr>
              <a:t>finds the plate, reads it using OCR (Optical Character Recognition), checks the Indian format and combines readings from several frames.</a:t>
            </a:r>
          </a:p>
          <a:p>
            <a:pPr marL="457200" indent="-457200" algn="l">
              <a:spcAft>
                <a:spcPts val="800"/>
              </a:spcAft>
              <a:buNone/>
            </a:pPr>
            <a:r>
              <a:rPr sz="1800" b="1" i="0">
                <a:latin typeface="Times New Roman"/>
                <a:cs typeface="Times New Roman"/>
              </a:rPr>
              <a:t>5.	Alert &amp; e-Challan Generation: </a:t>
            </a:r>
            <a:r>
              <a:rPr sz="1800" b="0" i="0">
                <a:latin typeface="Times New Roman"/>
                <a:cs typeface="Times New Roman"/>
              </a:rPr>
              <a:t>creates the violation record with evidence and sends SMS (Short Message Service)/app notifications.</a:t>
            </a:r>
          </a:p>
          <a:p>
            <a:pPr marL="457200" indent="-457200" algn="l">
              <a:spcAft>
                <a:spcPts val="800"/>
              </a:spcAft>
              <a:buNone/>
            </a:pPr>
            <a:r>
              <a:rPr sz="1800" b="1" i="0">
                <a:latin typeface="Times New Roman"/>
                <a:cs typeface="Times New Roman"/>
              </a:rPr>
              <a:t>6.	Dashboard &amp; Analytics: </a:t>
            </a:r>
            <a:r>
              <a:rPr sz="1800" b="0" i="0">
                <a:latin typeface="Times New Roman"/>
                <a:cs typeface="Times New Roman"/>
              </a:rPr>
              <a:t>live violation feed, search by plate, hotspot heat map and peak-hour charts for the police.</a:t>
            </a:r>
          </a:p>
        </p:txBody>
      </p:sp>
      <p:sp>
        <p:nvSpPr>
          <p:cNvPr id="3" name="Title 2">
            <a:extLst>
              <a:ext uri="{FF2B5EF4-FFF2-40B4-BE49-F238E27FC236}">
                <a16:creationId xmlns:a16="http://schemas.microsoft.com/office/drawing/2014/main" id="{ED121F08-AD64-6706-BBF1-E99AD8E172AB}"/>
              </a:ext>
            </a:extLst>
          </p:cNvPr>
          <p:cNvSpPr>
            <a:spLocks noGrp="1"/>
          </p:cNvSpPr>
          <p:nvPr>
            <p:ph type="title"/>
          </p:nvPr>
        </p:nvSpPr>
        <p:spPr>
          <a:xfrm>
            <a:off x="792106" y="138036"/>
            <a:ext cx="4244589"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Proposed Modules</a:t>
            </a: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41F741-6C92-DBA8-8287-DCADD1E7CA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7013" y="169256"/>
            <a:ext cx="2685321" cy="550457"/>
          </a:xfrm>
          <a:prstGeom prst="rect">
            <a:avLst/>
          </a:prstGeom>
        </p:spPr>
      </p:pic>
    </p:spTree>
    <p:extLst>
      <p:ext uri="{BB962C8B-B14F-4D97-AF65-F5344CB8AC3E}">
        <p14:creationId xmlns:p14="http://schemas.microsoft.com/office/powerpoint/2010/main" val="31514142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ECAB-3179-9CCC-642A-5735C02C4C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343D4E-B5C1-D4D1-F90B-80F03B7E112F}"/>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457200" indent="-457200" algn="l">
              <a:spcAft>
                <a:spcPts val="800"/>
              </a:spcAft>
              <a:buNone/>
            </a:pPr>
            <a:r>
              <a:rPr sz="1800" b="1" i="0">
                <a:latin typeface="Times New Roman"/>
                <a:cs typeface="Times New Roman"/>
              </a:rPr>
              <a:t>1.	</a:t>
            </a:r>
            <a:r>
              <a:rPr sz="1800" b="0" i="0">
                <a:latin typeface="Times New Roman"/>
                <a:cs typeface="Times New Roman"/>
              </a:rPr>
              <a:t>One unified pipeline for six violation types, where most prior work handles one or two.</a:t>
            </a:r>
          </a:p>
          <a:p>
            <a:pPr marL="457200" indent="-457200" algn="l">
              <a:spcAft>
                <a:spcPts val="800"/>
              </a:spcAft>
              <a:buNone/>
            </a:pPr>
            <a:r>
              <a:rPr sz="1800" b="1" i="0">
                <a:latin typeface="Times New Roman"/>
                <a:cs typeface="Times New Roman"/>
              </a:rPr>
              <a:t>2.	</a:t>
            </a:r>
            <a:r>
              <a:rPr sz="1800" b="0" i="0">
                <a:latin typeface="Times New Roman"/>
                <a:cs typeface="Times New Roman"/>
              </a:rPr>
              <a:t>Tuned for Bengaluru: trained and tested on Indian data such as IDD (India Driving Dataset), AI City Track 5 and RideSafe-400, plus our own Bengaluru clips.</a:t>
            </a:r>
          </a:p>
          <a:p>
            <a:pPr marL="457200" indent="-457200" algn="l">
              <a:spcAft>
                <a:spcPts val="800"/>
              </a:spcAft>
              <a:buNone/>
            </a:pPr>
            <a:r>
              <a:rPr sz="1800" b="1" i="0">
                <a:latin typeface="Times New Roman"/>
                <a:cs typeface="Times New Roman"/>
              </a:rPr>
              <a:t>3.	</a:t>
            </a:r>
            <a:r>
              <a:rPr sz="1800" b="0" i="0">
                <a:latin typeface="Times New Roman"/>
                <a:cs typeface="Times New Roman"/>
              </a:rPr>
              <a:t>Works with both fixed junction cameras and vehicle dashcams, covering roads that ITMS (Intelligent Traffic Management System) cameras miss.</a:t>
            </a:r>
          </a:p>
          <a:p>
            <a:pPr marL="457200" indent="-457200" algn="l">
              <a:spcAft>
                <a:spcPts val="800"/>
              </a:spcAft>
              <a:buNone/>
            </a:pPr>
            <a:r>
              <a:rPr sz="1800" b="1" i="0">
                <a:latin typeface="Times New Roman"/>
                <a:cs typeface="Times New Roman"/>
              </a:rPr>
              <a:t>4.	</a:t>
            </a:r>
            <a:r>
              <a:rPr sz="1800" b="0" i="0">
                <a:latin typeface="Times New Roman"/>
                <a:cs typeface="Times New Roman"/>
              </a:rPr>
              <a:t>Closes the loop from detection to alert: evidence clip, plate, location and time are sent within seconds.</a:t>
            </a:r>
          </a:p>
          <a:p>
            <a:pPr marL="457200" indent="-457200" algn="l">
              <a:spcAft>
                <a:spcPts val="800"/>
              </a:spcAft>
              <a:buNone/>
            </a:pPr>
            <a:r>
              <a:rPr sz="1800" b="1" i="0">
                <a:latin typeface="Times New Roman"/>
                <a:cs typeface="Times New Roman"/>
              </a:rPr>
              <a:t>5.	</a:t>
            </a:r>
            <a:r>
              <a:rPr sz="1800" b="0" i="0">
                <a:latin typeface="Times New Roman"/>
                <a:cs typeface="Times New Roman"/>
              </a:rPr>
              <a:t>On-site processing: video is analysed at the camera and only violation events are sent, which saves internet data and protects privacy.</a:t>
            </a:r>
          </a:p>
          <a:p>
            <a:pPr marL="457200" indent="-457200" algn="l">
              <a:spcAft>
                <a:spcPts val="800"/>
              </a:spcAft>
              <a:buNone/>
            </a:pPr>
            <a:r>
              <a:rPr sz="1800" b="1" i="0">
                <a:latin typeface="Times New Roman"/>
                <a:cs typeface="Times New Roman"/>
              </a:rPr>
              <a:t>6.	</a:t>
            </a:r>
            <a:r>
              <a:rPr sz="1800" b="0" i="0">
                <a:latin typeface="Times New Roman"/>
                <a:cs typeface="Times New Roman"/>
              </a:rPr>
              <a:t>Hotspot analytics turn violation data into guidance for where and when to deploy traffic police.</a:t>
            </a:r>
          </a:p>
        </p:txBody>
      </p:sp>
      <p:sp>
        <p:nvSpPr>
          <p:cNvPr id="3" name="Title 2">
            <a:extLst>
              <a:ext uri="{FF2B5EF4-FFF2-40B4-BE49-F238E27FC236}">
                <a16:creationId xmlns:a16="http://schemas.microsoft.com/office/drawing/2014/main" id="{53CB1A76-FD31-0CA0-94FE-FD7AFCC63401}"/>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Novelty of the Proposed Idea / Project</a:t>
            </a: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4E27D2C-6F90-7DF9-AB19-4F214FE76D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9225" y="285778"/>
            <a:ext cx="2803161" cy="563562"/>
          </a:xfrm>
          <a:prstGeom prst="rect">
            <a:avLst/>
          </a:prstGeom>
        </p:spPr>
      </p:pic>
    </p:spTree>
    <p:extLst>
      <p:ext uri="{BB962C8B-B14F-4D97-AF65-F5344CB8AC3E}">
        <p14:creationId xmlns:p14="http://schemas.microsoft.com/office/powerpoint/2010/main" val="34241030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58223-842F-E06E-5A4A-6B7EEA7E02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153325-B3C0-3BBC-88F7-6BC2915412B0}"/>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0" indent="0" algn="l">
              <a:spcAft>
                <a:spcPts val="800"/>
              </a:spcAft>
              <a:buNone/>
            </a:pPr>
            <a:r>
              <a:rPr sz="1900" b="0" i="1">
                <a:latin typeface="Times New Roman"/>
                <a:cs typeface="Times New Roman"/>
              </a:rPr>
              <a:t>Planned experiments (to be carried out during implementation):</a:t>
            </a:r>
          </a:p>
          <a:p>
            <a:pPr marL="342900" indent="-342900" algn="l">
              <a:spcAft>
                <a:spcPts val="800"/>
              </a:spcAft>
              <a:buFont typeface="Arial"/>
              <a:buChar char="•"/>
            </a:pPr>
            <a:r>
              <a:rPr sz="1800" b="1" i="0">
                <a:latin typeface="Times New Roman"/>
                <a:cs typeface="Times New Roman"/>
              </a:rPr>
              <a:t>E1 – Model comparison: </a:t>
            </a:r>
            <a:r>
              <a:rPr sz="1800" b="0" i="0">
                <a:latin typeface="Times New Roman"/>
                <a:cs typeface="Times New Roman"/>
              </a:rPr>
              <a:t>YOLOv5 (You Only Look Once, version 5) vs. YOLOv8 (small and medium sizes) on the AI City helmet data and our Bengaluru test set.</a:t>
            </a:r>
          </a:p>
          <a:p>
            <a:pPr marL="342900" indent="-342900" algn="l">
              <a:spcAft>
                <a:spcPts val="800"/>
              </a:spcAft>
              <a:buFont typeface="Arial"/>
              <a:buChar char="•"/>
            </a:pPr>
            <a:r>
              <a:rPr sz="1800" b="1" i="0">
                <a:latin typeface="Times New Roman"/>
                <a:cs typeface="Times New Roman"/>
              </a:rPr>
              <a:t>E2 – Local training: </a:t>
            </a:r>
            <a:r>
              <a:rPr sz="1800" b="0" i="0">
                <a:latin typeface="Times New Roman"/>
                <a:cs typeface="Times New Roman"/>
              </a:rPr>
              <a:t>model trained only on public data vs. one also trained with our Bengaluru clips.</a:t>
            </a:r>
          </a:p>
          <a:p>
            <a:pPr marL="342900" indent="-342900" algn="l">
              <a:spcAft>
                <a:spcPts val="800"/>
              </a:spcAft>
              <a:buFont typeface="Arial"/>
              <a:buChar char="•"/>
            </a:pPr>
            <a:r>
              <a:rPr sz="1800" b="1" i="0">
                <a:latin typeface="Times New Roman"/>
                <a:cs typeface="Times New Roman"/>
              </a:rPr>
              <a:t>E3 – Tracking: </a:t>
            </a:r>
            <a:r>
              <a:rPr sz="1800" b="0" i="0">
                <a:latin typeface="Times New Roman"/>
                <a:cs typeface="Times New Roman"/>
              </a:rPr>
              <a:t>ByteTrack vs. DeepSORT, measured by how often the same violation is counted twice.</a:t>
            </a:r>
          </a:p>
          <a:p>
            <a:pPr marL="342900" indent="-342900" algn="l">
              <a:spcAft>
                <a:spcPts val="800"/>
              </a:spcAft>
              <a:buFont typeface="Arial"/>
              <a:buChar char="•"/>
            </a:pPr>
            <a:r>
              <a:rPr sz="1800" b="1" i="0">
                <a:latin typeface="Times New Roman"/>
                <a:cs typeface="Times New Roman"/>
              </a:rPr>
              <a:t>E4 – ANPR (Automatic Number Plate Recognition): </a:t>
            </a:r>
            <a:r>
              <a:rPr sz="1800" b="0" i="0">
                <a:latin typeface="Times New Roman"/>
                <a:cs typeface="Times New Roman"/>
              </a:rPr>
              <a:t>reading the plate from one frame vs. combining readings from several frames.</a:t>
            </a:r>
          </a:p>
          <a:p>
            <a:pPr marL="342900" indent="-342900" algn="l">
              <a:spcAft>
                <a:spcPts val="800"/>
              </a:spcAft>
              <a:buFont typeface="Arial"/>
              <a:buChar char="•"/>
            </a:pPr>
            <a:r>
              <a:rPr sz="1800" b="1" i="0">
                <a:latin typeface="Times New Roman"/>
                <a:cs typeface="Times New Roman"/>
              </a:rPr>
              <a:t>E5 – Conditions: </a:t>
            </a:r>
            <a:r>
              <a:rPr sz="1800" b="0" i="0">
                <a:latin typeface="Times New Roman"/>
                <a:cs typeface="Times New Roman"/>
              </a:rPr>
              <a:t>day vs. night vs. rain clips to test robustness.</a:t>
            </a:r>
          </a:p>
          <a:p>
            <a:pPr marL="342900" indent="-342900" algn="l">
              <a:spcAft>
                <a:spcPts val="800"/>
              </a:spcAft>
              <a:buFont typeface="Arial"/>
              <a:buChar char="•"/>
            </a:pPr>
            <a:r>
              <a:rPr sz="1800" b="1" i="0">
                <a:latin typeface="Times New Roman"/>
                <a:cs typeface="Times New Roman"/>
              </a:rPr>
              <a:t>E6 – Speed: </a:t>
            </a:r>
            <a:r>
              <a:rPr sz="1800" b="0" i="0">
                <a:latin typeface="Times New Roman"/>
                <a:cs typeface="Times New Roman"/>
              </a:rPr>
              <a:t>frames per second and time from violation to alert on the Jetson vs. a laptop GPU (Graphics Processing Unit).</a:t>
            </a:r>
          </a:p>
        </p:txBody>
      </p:sp>
      <p:sp>
        <p:nvSpPr>
          <p:cNvPr id="3" name="Title 2">
            <a:extLst>
              <a:ext uri="{FF2B5EF4-FFF2-40B4-BE49-F238E27FC236}">
                <a16:creationId xmlns:a16="http://schemas.microsoft.com/office/drawing/2014/main" id="{A32D421F-1615-2669-0698-211111DAE13D}"/>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Experimentation</a:t>
            </a:r>
          </a:p>
        </p:txBody>
      </p:sp>
      <p:pic>
        <p:nvPicPr>
          <p:cNvPr id="5" name="Picture 4">
            <a:extLst>
              <a:ext uri="{FF2B5EF4-FFF2-40B4-BE49-F238E27FC236}">
                <a16:creationId xmlns:a16="http://schemas.microsoft.com/office/drawing/2014/main" id="{CDC60FC0-D47B-5ADE-2B68-D06E7335D2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41721" y="138036"/>
            <a:ext cx="2445479" cy="457333"/>
          </a:xfrm>
          <a:prstGeom prst="rect">
            <a:avLst/>
          </a:prstGeom>
        </p:spPr>
      </p:pic>
    </p:spTree>
    <p:extLst>
      <p:ext uri="{BB962C8B-B14F-4D97-AF65-F5344CB8AC3E}">
        <p14:creationId xmlns:p14="http://schemas.microsoft.com/office/powerpoint/2010/main" val="21505931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23EDA-4E6D-78BF-B031-6B8E6D61F6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0FB39F-7422-D5C9-C864-CC4236290550}"/>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0" indent="0" algn="l">
              <a:spcAft>
                <a:spcPts val="800"/>
              </a:spcAft>
              <a:buNone/>
            </a:pPr>
            <a:r>
              <a:rPr sz="1900" b="0" i="1">
                <a:latin typeface="Times New Roman"/>
                <a:cs typeface="Times New Roman"/>
              </a:rPr>
              <a:t>Results will be reported after implementation. Planned evaluation and reference values from the literature:</a:t>
            </a:r>
          </a:p>
          <a:p>
            <a:pPr marL="342900" indent="-342900" algn="l">
              <a:spcAft>
                <a:spcPts val="800"/>
              </a:spcAft>
              <a:buFont typeface="Arial"/>
              <a:buChar char="•"/>
            </a:pPr>
            <a:r>
              <a:rPr sz="1800" b="1" i="0">
                <a:latin typeface="Times New Roman"/>
                <a:cs typeface="Times New Roman"/>
              </a:rPr>
              <a:t>Helmet detection: </a:t>
            </a:r>
            <a:r>
              <a:rPr sz="1800" b="0" i="0">
                <a:latin typeface="Times New Roman"/>
                <a:cs typeface="Times New Roman"/>
              </a:rPr>
              <a:t>mAP (mean Average Precision) score. Reference: 0.667 [5] and 0.834 (best team) [6] on AI City 2023 Track 5.</a:t>
            </a:r>
          </a:p>
          <a:p>
            <a:pPr marL="342900" indent="-342900" algn="l">
              <a:spcAft>
                <a:spcPts val="800"/>
              </a:spcAft>
              <a:buFont typeface="Arial"/>
              <a:buChar char="•"/>
            </a:pPr>
            <a:r>
              <a:rPr sz="1800" b="1" i="0">
                <a:latin typeface="Times New Roman"/>
                <a:cs typeface="Times New Roman"/>
              </a:rPr>
              <a:t>Triple riding: </a:t>
            </a:r>
            <a:r>
              <a:rPr sz="1800" b="0" i="0">
                <a:latin typeface="Times New Roman"/>
                <a:cs typeface="Times New Roman"/>
              </a:rPr>
              <a:t>precision / recall / F1 (combined precision and recall score). Reference: F1 78.3% [1].</a:t>
            </a:r>
          </a:p>
          <a:p>
            <a:pPr marL="342900" indent="-342900" algn="l">
              <a:spcAft>
                <a:spcPts val="800"/>
              </a:spcAft>
              <a:buFont typeface="Arial"/>
              <a:buChar char="•"/>
            </a:pPr>
            <a:r>
              <a:rPr sz="1800" b="1" i="0">
                <a:latin typeface="Times New Roman"/>
                <a:cs typeface="Times New Roman"/>
              </a:rPr>
              <a:t>Number-plate recognition: </a:t>
            </a:r>
            <a:r>
              <a:rPr sz="1800" b="0" i="0">
                <a:latin typeface="Times New Roman"/>
                <a:cs typeface="Times New Roman"/>
              </a:rPr>
              <a:t>plate-level accuracy. Reference: 93.5% [4] and 85.7% on Indian plates [2].</a:t>
            </a:r>
          </a:p>
          <a:p>
            <a:pPr marL="342900" indent="-342900" algn="l">
              <a:spcAft>
                <a:spcPts val="800"/>
              </a:spcAft>
              <a:buFont typeface="Arial"/>
              <a:buChar char="•"/>
            </a:pPr>
            <a:r>
              <a:rPr sz="1800" b="1" i="0">
                <a:latin typeface="Times New Roman"/>
                <a:cs typeface="Times New Roman"/>
              </a:rPr>
              <a:t>Full system (e-ticket): </a:t>
            </a:r>
            <a:r>
              <a:rPr sz="1800" b="0" i="0">
                <a:latin typeface="Times New Roman"/>
                <a:cs typeface="Times New Roman"/>
              </a:rPr>
              <a:t>F1 score. Reference: 72.2% automatic and 82.1% with human review [2].</a:t>
            </a:r>
          </a:p>
          <a:p>
            <a:pPr marL="342900" indent="-342900" algn="l">
              <a:spcAft>
                <a:spcPts val="800"/>
              </a:spcAft>
              <a:buFont typeface="Arial"/>
              <a:buChar char="•"/>
            </a:pPr>
            <a:r>
              <a:rPr sz="1800" b="1" i="0">
                <a:latin typeface="Times New Roman"/>
                <a:cs typeface="Times New Roman"/>
              </a:rPr>
              <a:t>System speed: </a:t>
            </a:r>
            <a:r>
              <a:rPr sz="1800" b="0" i="0">
                <a:latin typeface="Times New Roman"/>
                <a:cs typeface="Times New Roman"/>
              </a:rPr>
              <a:t>FPS (Frames Per Second) on the on-site device and time from violation to alert.</a:t>
            </a:r>
          </a:p>
        </p:txBody>
      </p:sp>
      <p:sp>
        <p:nvSpPr>
          <p:cNvPr id="3" name="Title 2">
            <a:extLst>
              <a:ext uri="{FF2B5EF4-FFF2-40B4-BE49-F238E27FC236}">
                <a16:creationId xmlns:a16="http://schemas.microsoft.com/office/drawing/2014/main" id="{64961CD4-3E10-98EF-AD19-1669748F6FCB}"/>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Results and Discussion</a:t>
            </a:r>
          </a:p>
        </p:txBody>
      </p:sp>
      <p:pic>
        <p:nvPicPr>
          <p:cNvPr id="5" name="Picture 4">
            <a:extLst>
              <a:ext uri="{FF2B5EF4-FFF2-40B4-BE49-F238E27FC236}">
                <a16:creationId xmlns:a16="http://schemas.microsoft.com/office/drawing/2014/main" id="{75FCADDA-D9E2-36EA-E944-564BB95DF6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41721" y="138036"/>
            <a:ext cx="2445479" cy="457333"/>
          </a:xfrm>
          <a:prstGeom prst="rect">
            <a:avLst/>
          </a:prstGeom>
        </p:spPr>
      </p:pic>
    </p:spTree>
    <p:extLst>
      <p:ext uri="{BB962C8B-B14F-4D97-AF65-F5344CB8AC3E}">
        <p14:creationId xmlns:p14="http://schemas.microsoft.com/office/powerpoint/2010/main" val="39674635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B8F1-05E9-07E3-39E6-5440FC9BBB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4C79AF-A4DC-60B2-2D45-0704C945A913}"/>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0" indent="0" algn="l">
              <a:spcAft>
                <a:spcPts val="800"/>
              </a:spcAft>
              <a:buNone/>
            </a:pPr>
            <a:r>
              <a:rPr sz="2000" b="1" i="0">
                <a:latin typeface="Times New Roman"/>
                <a:cs typeface="Times New Roman"/>
              </a:rPr>
              <a:t>Conclusion</a:t>
            </a:r>
          </a:p>
          <a:p>
            <a:pPr marL="342900" indent="-342900" algn="l">
              <a:spcAft>
                <a:spcPts val="800"/>
              </a:spcAft>
              <a:buFont typeface="Arial"/>
              <a:buChar char="•"/>
            </a:pPr>
            <a:r>
              <a:rPr sz="1800" b="0" i="0">
                <a:latin typeface="Times New Roman"/>
                <a:cs typeface="Times New Roman"/>
              </a:rPr>
              <a:t>Bengaluru already relies on AI (Artificial Intelligence) cameras for most traffic enforcement, which shows the approach works at city scale.</a:t>
            </a:r>
          </a:p>
          <a:p>
            <a:pPr marL="342900" indent="-342900" algn="l">
              <a:spcAft>
                <a:spcPts val="800"/>
              </a:spcAft>
              <a:buFont typeface="Arial"/>
              <a:buChar char="•"/>
            </a:pPr>
            <a:r>
              <a:rPr sz="1800" b="0" i="0">
                <a:latin typeface="Times New Roman"/>
                <a:cs typeface="Times New Roman"/>
              </a:rPr>
              <a:t>The literature provides strong building blocks such as YOLO (You Only Look Once) detectors, rider–bike matching, ANPR (Automatic Number Plate Recognition) and Indian datasets, but they exist as separate pieces.</a:t>
            </a:r>
          </a:p>
          <a:p>
            <a:pPr marL="342900" indent="-342900" algn="l">
              <a:spcAft>
                <a:spcPts val="800"/>
              </a:spcAft>
              <a:buFont typeface="Arial"/>
              <a:buChar char="•"/>
            </a:pPr>
            <a:r>
              <a:rPr sz="1800" b="0" i="0">
                <a:latin typeface="Times New Roman"/>
                <a:cs typeface="Times New Roman"/>
              </a:rPr>
              <a:t>Our system brings them together into one pipeline, from detection to plate reading to real-time alerts, designed for Bengaluru's traffic.</a:t>
            </a:r>
          </a:p>
          <a:p>
            <a:pPr marL="0" indent="0" algn="l">
              <a:spcAft>
                <a:spcPts val="800"/>
              </a:spcAft>
              <a:buNone/>
            </a:pPr>
            <a:r>
              <a:rPr sz="2000" b="1" i="0">
                <a:latin typeface="Times New Roman"/>
                <a:cs typeface="Times New Roman"/>
              </a:rPr>
              <a:t>Future directions</a:t>
            </a:r>
          </a:p>
          <a:p>
            <a:pPr marL="342900" indent="-342900" algn="l">
              <a:spcAft>
                <a:spcPts val="800"/>
              </a:spcAft>
              <a:buFont typeface="Arial"/>
              <a:buChar char="•"/>
            </a:pPr>
            <a:r>
              <a:rPr sz="1800" b="0" i="0">
                <a:latin typeface="Times New Roman"/>
                <a:cs typeface="Times New Roman"/>
              </a:rPr>
              <a:t>Add over-speeding and footpath-riding detection; extend to night-vision cameras.</a:t>
            </a:r>
          </a:p>
          <a:p>
            <a:pPr marL="342900" indent="-342900" algn="l">
              <a:spcAft>
                <a:spcPts val="800"/>
              </a:spcAft>
              <a:buFont typeface="Arial"/>
              <a:buChar char="•"/>
            </a:pPr>
            <a:r>
              <a:rPr sz="1800" b="0" i="0">
                <a:latin typeface="Times New Roman"/>
                <a:cs typeface="Times New Roman"/>
              </a:rPr>
              <a:t>Connect with the government vehicle database (VAHAN) and e-challan system after approval from the authorities.</a:t>
            </a:r>
          </a:p>
          <a:p>
            <a:pPr marL="342900" indent="-342900" algn="l">
              <a:spcAft>
                <a:spcPts val="800"/>
              </a:spcAft>
              <a:buFont typeface="Arial"/>
              <a:buChar char="•"/>
            </a:pPr>
            <a:r>
              <a:rPr sz="1800" b="0" i="0">
                <a:latin typeface="Times New Roman"/>
                <a:cs typeface="Times New Roman"/>
              </a:rPr>
              <a:t>Predict accident-prone spots from violation patterns, and deploy on BMTC (Bengaluru Metropolitan Transport Corporation) buses and patrol vehicles.</a:t>
            </a:r>
          </a:p>
        </p:txBody>
      </p:sp>
      <p:sp>
        <p:nvSpPr>
          <p:cNvPr id="3" name="Title 2">
            <a:extLst>
              <a:ext uri="{FF2B5EF4-FFF2-40B4-BE49-F238E27FC236}">
                <a16:creationId xmlns:a16="http://schemas.microsoft.com/office/drawing/2014/main" id="{69625804-55EE-9262-0513-B15AAAE3703A}"/>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Conclusion &amp; Future Directions</a:t>
            </a: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1A1E605-EF66-503F-9EFE-62349AAAD9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41721" y="138036"/>
            <a:ext cx="2445479" cy="457333"/>
          </a:xfrm>
          <a:prstGeom prst="rect">
            <a:avLst/>
          </a:prstGeom>
        </p:spPr>
      </p:pic>
    </p:spTree>
    <p:extLst>
      <p:ext uri="{BB962C8B-B14F-4D97-AF65-F5344CB8AC3E}">
        <p14:creationId xmlns:p14="http://schemas.microsoft.com/office/powerpoint/2010/main" val="420711893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67CF-4D55-95C9-8717-250E451EFB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26F7BD-3071-22EF-42C0-1D08731CDB40}"/>
              </a:ext>
            </a:extLst>
          </p:cNvPr>
          <p:cNvSpPr>
            <a:spLocks noGrp="1"/>
          </p:cNvSpPr>
          <p:nvPr>
            <p:ph idx="1"/>
          </p:nvPr>
        </p:nvSpPr>
        <p:spPr>
          <a:xfrm>
            <a:off x="609600" y="887833"/>
            <a:ext cx="10972800" cy="5223154"/>
          </a:xfrm>
        </p:spPr>
        <p:txBody>
          <a:bodyPr vert="horz" lIns="91440" tIns="45720" rIns="91440" bIns="45720" rtlCol="0" anchor="t">
            <a:normAutofit/>
          </a:bodyPr>
          <a:lstStyle/>
          <a:p>
            <a:pPr marL="0" indent="0" algn="l">
              <a:spcAft>
                <a:spcPts val="500"/>
              </a:spcAft>
              <a:buNone/>
            </a:pPr>
            <a:r>
              <a:rPr sz="1300" b="0" i="0">
                <a:latin typeface="Times New Roman"/>
                <a:cs typeface="Times New Roman"/>
              </a:rPr>
              <a:t>[1] Goyal, A., Agarwal, D., Subramanian, A., Jawahar, C. V., Sarvadevabhatla, R. K., &amp; Saluja, R. (2022). Detecting, tracking and counting motorcycle rider traffic violations on unconstrained roads. Proceedings of the IEEE/CVF Conference on Computer Vision and Pattern Recognition Workshops (CVPRW), 4303–4312.</a:t>
            </a:r>
          </a:p>
          <a:p>
            <a:pPr marL="0" indent="0" algn="l">
              <a:spcAft>
                <a:spcPts val="500"/>
              </a:spcAft>
              <a:buNone/>
            </a:pPr>
            <a:r>
              <a:rPr sz="1300" b="0" i="0">
                <a:latin typeface="Times New Roman"/>
                <a:cs typeface="Times New Roman"/>
              </a:rPr>
              <a:t>[2] Rawat, D., Gupta, K., Basu Roy, A., &amp; Sarvadevabhatla, R. K. (2025). DashCop: Automated e-ticket generation for two-wheeler traffic violations using dashcam videos. Proceedings of the IEEE/CVF Winter Conference on Applications of Computer Vision (WACV), 5387–5397.</a:t>
            </a:r>
          </a:p>
          <a:p>
            <a:pPr marL="0" indent="0" algn="l">
              <a:spcAft>
                <a:spcPts val="500"/>
              </a:spcAft>
              <a:buNone/>
            </a:pPr>
            <a:r>
              <a:rPr sz="1300" b="0" i="0">
                <a:latin typeface="Times New Roman"/>
                <a:cs typeface="Times New Roman"/>
              </a:rPr>
              <a:t>[3] Varma, G., Subramanian, A., Namboodiri, A., Chandraker, M., &amp; Jawahar, C. V. (2019). IDD: A dataset for exploring problems of autonomous navigation in unconstrained environments. Proceedings of the IEEE Winter Conference on Applications of Computer Vision (WACV).</a:t>
            </a:r>
          </a:p>
          <a:p>
            <a:pPr marL="0" indent="0" algn="l">
              <a:spcAft>
                <a:spcPts val="500"/>
              </a:spcAft>
              <a:buNone/>
            </a:pPr>
            <a:r>
              <a:rPr sz="1300" b="0" i="0">
                <a:latin typeface="Times New Roman"/>
                <a:cs typeface="Times New Roman"/>
              </a:rPr>
              <a:t>[4] Laroca, R., Severo, E., Zanlorensi, L. A., Oliveira, L. S., Gonçalves, G. R., Schwartz, W. R., &amp; Menotti, D. (2018). A robust real-time automatic license plate recognition based on the YOLO detector. International Joint Conference on Neural Networks (IJCNN), IEEE. https://doi.org/10.1109/IJCNN.2018.8489629</a:t>
            </a:r>
          </a:p>
          <a:p>
            <a:pPr marL="0" indent="0" algn="l">
              <a:spcAft>
                <a:spcPts val="500"/>
              </a:spcAft>
              <a:buNone/>
            </a:pPr>
            <a:r>
              <a:rPr sz="1300" b="0" i="0">
                <a:latin typeface="Times New Roman"/>
                <a:cs typeface="Times New Roman"/>
              </a:rPr>
              <a:t>[5] Soltanikazemi, E., Dhakal, A., Hatuwal, B. K., Toubal, I. E., Aboah, A., &amp; Palaniappan, K. (2023). Real-time helmet violation detection in AI City Challenge 2023 with genetic algorithm-enhanced YOLOv5. IEEE Applied Imagery Pattern Recognition Workshop (AIPR). https://doi.org/10.1109/AIPR60534.2023.10440713</a:t>
            </a:r>
          </a:p>
          <a:p>
            <a:pPr marL="0" indent="0" algn="l">
              <a:spcAft>
                <a:spcPts val="500"/>
              </a:spcAft>
              <a:buNone/>
            </a:pPr>
            <a:r>
              <a:rPr sz="1300" b="0" i="0">
                <a:latin typeface="Times New Roman"/>
                <a:cs typeface="Times New Roman"/>
              </a:rPr>
              <a:t>[6] Naphade, M., Wang, S., Anastasiu, D. C., Tang, Z., Chang, M.-C., et al. (2023). The 7th AI City Challenge. Proceedings of the IEEE/CVF Conference on Computer Vision and Pattern Recognition Workshops (CVPRW).</a:t>
            </a:r>
          </a:p>
          <a:p>
            <a:pPr marL="0" indent="0" algn="l">
              <a:spcAft>
                <a:spcPts val="500"/>
              </a:spcAft>
              <a:buNone/>
            </a:pPr>
            <a:r>
              <a:rPr sz="1300" b="0" i="0">
                <a:latin typeface="Times New Roman"/>
                <a:cs typeface="Times New Roman"/>
              </a:rPr>
              <a:t>[7] Bengaluru Traffic Police. (n.d.). ITMS cameras. https://btp.gov.in/itmscameras.aspx</a:t>
            </a:r>
          </a:p>
          <a:p>
            <a:pPr marL="0" indent="0" algn="l">
              <a:spcAft>
                <a:spcPts val="500"/>
              </a:spcAft>
              <a:buNone/>
            </a:pPr>
            <a:r>
              <a:rPr sz="1300" b="0" i="0">
                <a:latin typeface="Times New Roman"/>
                <a:cs typeface="Times New Roman"/>
              </a:rPr>
              <a:t>[8] Deccan Herald. (2025). Bengaluru Traffic Police collects record Rs 251.26 crore in traffic fines, highest in a decade.</a:t>
            </a:r>
          </a:p>
        </p:txBody>
      </p:sp>
      <p:sp>
        <p:nvSpPr>
          <p:cNvPr id="3" name="Title 2">
            <a:extLst>
              <a:ext uri="{FF2B5EF4-FFF2-40B4-BE49-F238E27FC236}">
                <a16:creationId xmlns:a16="http://schemas.microsoft.com/office/drawing/2014/main" id="{14F7B8BB-F1A9-CAAC-6E94-84B65B0E7A0B}"/>
              </a:ext>
            </a:extLst>
          </p:cNvPr>
          <p:cNvSpPr>
            <a:spLocks noGrp="1"/>
          </p:cNvSpPr>
          <p:nvPr>
            <p:ph type="title"/>
          </p:nvPr>
        </p:nvSpPr>
        <p:spPr>
          <a:xfrm>
            <a:off x="792106" y="138036"/>
            <a:ext cx="10972800" cy="563562"/>
          </a:xfrm>
        </p:spPr>
        <p:txBody>
          <a:bodyPr>
            <a:noAutofit/>
          </a:bodyPr>
          <a:lstStyle/>
          <a:p>
            <a:pPr algn="ctr">
              <a:lnSpc>
                <a:spcPct val="150000"/>
              </a:lnSpc>
            </a:pP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References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9614CC03-5AC2-8C76-DAFE-BA60BA1CF8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6751" y="214280"/>
            <a:ext cx="2535420" cy="487318"/>
          </a:xfrm>
          <a:prstGeom prst="rect">
            <a:avLst/>
          </a:prstGeom>
        </p:spPr>
      </p:pic>
    </p:spTree>
    <p:extLst>
      <p:ext uri="{BB962C8B-B14F-4D97-AF65-F5344CB8AC3E}">
        <p14:creationId xmlns:p14="http://schemas.microsoft.com/office/powerpoint/2010/main" val="33776312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B1E9D-08D2-E426-5B22-3AC2930FB2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57C60A-FBDF-9BB5-4528-95592F91154B}"/>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0" indent="0" algn="l">
              <a:spcAft>
                <a:spcPts val="800"/>
              </a:spcAft>
              <a:buNone/>
            </a:pPr>
            <a:r>
              <a:rPr sz="1800" b="0" i="1">
                <a:solidFill>
                  <a:srgbClr val="595959"/>
                </a:solidFill>
                <a:latin typeface="Times New Roman"/>
                <a:cs typeface="Times New Roman"/>
              </a:rPr>
              <a:t>To be added after implementation (sample of the source code).</a:t>
            </a:r>
          </a:p>
        </p:txBody>
      </p:sp>
      <p:sp>
        <p:nvSpPr>
          <p:cNvPr id="3" name="Title 2">
            <a:extLst>
              <a:ext uri="{FF2B5EF4-FFF2-40B4-BE49-F238E27FC236}">
                <a16:creationId xmlns:a16="http://schemas.microsoft.com/office/drawing/2014/main" id="{D11D1431-CBB1-2E8B-9D61-C266D7E354F4}"/>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Implementation (Sample of the Source Code)</a:t>
            </a:r>
            <a:br>
              <a:rPr lang="en-US" sz="3200"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9D29C0-805E-09D5-FBBC-105D2D7A27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34614" y="138036"/>
            <a:ext cx="2730292" cy="595428"/>
          </a:xfrm>
          <a:prstGeom prst="rect">
            <a:avLst/>
          </a:prstGeom>
        </p:spPr>
      </p:pic>
    </p:spTree>
    <p:extLst>
      <p:ext uri="{BB962C8B-B14F-4D97-AF65-F5344CB8AC3E}">
        <p14:creationId xmlns:p14="http://schemas.microsoft.com/office/powerpoint/2010/main" val="30593363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5CE2-0FCE-C10F-147E-1C0000F538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356C37-CB3A-0542-A650-FDC3D5A9D163}"/>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0" indent="0" algn="l">
              <a:spcAft>
                <a:spcPts val="800"/>
              </a:spcAft>
              <a:buNone/>
            </a:pPr>
            <a:r>
              <a:rPr sz="1800" b="0" i="1">
                <a:solidFill>
                  <a:srgbClr val="595959"/>
                </a:solidFill>
                <a:latin typeface="Times New Roman"/>
                <a:cs typeface="Times New Roman"/>
              </a:rPr>
              <a:t>To be added after the paper is submitted.</a:t>
            </a:r>
          </a:p>
        </p:txBody>
      </p:sp>
      <p:sp>
        <p:nvSpPr>
          <p:cNvPr id="3" name="Title 2">
            <a:extLst>
              <a:ext uri="{FF2B5EF4-FFF2-40B4-BE49-F238E27FC236}">
                <a16:creationId xmlns:a16="http://schemas.microsoft.com/office/drawing/2014/main" id="{BFD1F075-A6AF-DC0E-0383-CB3781E97989}"/>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Submission Page of the Paper</a:t>
            </a:r>
            <a:br>
              <a:rPr lang="en-US" sz="3200"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D3C8A54-DB36-4EFB-9F5E-BC062E18F0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29010" y="138036"/>
            <a:ext cx="2635896" cy="563562"/>
          </a:xfrm>
          <a:prstGeom prst="rect">
            <a:avLst/>
          </a:prstGeom>
        </p:spPr>
      </p:pic>
    </p:spTree>
    <p:extLst>
      <p:ext uri="{BB962C8B-B14F-4D97-AF65-F5344CB8AC3E}">
        <p14:creationId xmlns:p14="http://schemas.microsoft.com/office/powerpoint/2010/main" val="26491944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D9CD0-9C8B-8597-4BC5-4E885C24F84C}"/>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0" indent="0" algn="l">
              <a:spcAft>
                <a:spcPts val="800"/>
              </a:spcAft>
              <a:buNone/>
            </a:pPr>
            <a:r>
              <a:rPr sz="1800" b="0" i="1">
                <a:solidFill>
                  <a:srgbClr val="595959"/>
                </a:solidFill>
                <a:latin typeface="Times New Roman"/>
                <a:cs typeface="Times New Roman"/>
              </a:rPr>
              <a:t>To be attached (plagiarism report).</a:t>
            </a:r>
          </a:p>
        </p:txBody>
      </p:sp>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4634333" cy="563562"/>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Plagiarism Report</a:t>
            </a:r>
            <a:br>
              <a:rPr lang="en-US" sz="3200"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F45E307-6A9E-5159-8B35-ADF54C1096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21800" y="138036"/>
            <a:ext cx="2445479" cy="563562"/>
          </a:xfrm>
          <a:prstGeom prst="rect">
            <a:avLst/>
          </a:prstGeom>
        </p:spPr>
      </p:pic>
    </p:spTree>
    <p:extLst>
      <p:ext uri="{BB962C8B-B14F-4D97-AF65-F5344CB8AC3E}">
        <p14:creationId xmlns:p14="http://schemas.microsoft.com/office/powerpoint/2010/main" val="305957006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114</TotalTime>
  <Words>3399</Words>
  <Application>Microsoft Office PowerPoint</Application>
  <PresentationFormat>Widescreen</PresentationFormat>
  <Paragraphs>220</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Bookman Old Style</vt:lpstr>
      <vt:lpstr>Calibri</vt:lpstr>
      <vt:lpstr>Times New Roman</vt:lpstr>
      <vt:lpstr>Office Theme</vt:lpstr>
      <vt:lpstr>PowerPoint Presentation</vt:lpstr>
      <vt:lpstr> Agenda  </vt:lpstr>
      <vt:lpstr>Introduction</vt:lpstr>
      <vt:lpstr>Review of literature</vt:lpstr>
      <vt:lpstr>Review of literature (contd.)</vt:lpstr>
      <vt:lpstr>Observations from the Literature Review</vt:lpstr>
      <vt:lpstr>Limitations from the Literature Review</vt:lpstr>
      <vt:lpstr>Problem Statement / Scope of the Project</vt:lpstr>
      <vt:lpstr>Proposed Idea / Solution</vt:lpstr>
      <vt:lpstr>Objectives of the Idea / Solution as Design Project</vt:lpstr>
      <vt:lpstr>Proposed Research / Methodology</vt:lpstr>
      <vt:lpstr>Hardware Requirements</vt:lpstr>
      <vt:lpstr> Software Requirements</vt:lpstr>
      <vt:lpstr> Process / Flow / Design Diagram</vt:lpstr>
      <vt:lpstr> Proposed Modules</vt:lpstr>
      <vt:lpstr> Novelty of the Proposed Idea / Project</vt:lpstr>
      <vt:lpstr> Experimentation</vt:lpstr>
      <vt:lpstr> Results and Discussion</vt:lpstr>
      <vt:lpstr> Conclusion &amp; Future Directions</vt:lpstr>
      <vt:lpstr> References  </vt:lpstr>
      <vt:lpstr>   Implementation (Sample of the Source Code) </vt:lpstr>
      <vt:lpstr>   Submission Page of the Paper </vt:lpstr>
      <vt:lpstr>  Plagiarism Report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AIG-POC</dc:title>
  <dc:creator>debashis.sengupta</dc:creator>
  <cp:lastModifiedBy>Aatif Zafar</cp:lastModifiedBy>
  <cp:revision>19</cp:revision>
  <cp:lastPrinted>2020-11-26T03:04:06Z</cp:lastPrinted>
  <dcterms:created xsi:type="dcterms:W3CDTF">2008-12-05T06:42:08Z</dcterms:created>
  <dcterms:modified xsi:type="dcterms:W3CDTF">2026-09-23T02:38:12Z</dcterms:modified>
</cp:coreProperties>
</file>